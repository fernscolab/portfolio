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5" r:id="rId5"/>
    <p:sldId id="301" r:id="rId6"/>
    <p:sldId id="307" r:id="rId7"/>
    <p:sldId id="319" r:id="rId8"/>
    <p:sldId id="304" r:id="rId9"/>
    <p:sldId id="312" r:id="rId10"/>
    <p:sldId id="308" r:id="rId11"/>
    <p:sldId id="311" r:id="rId12"/>
    <p:sldId id="293" r:id="rId13"/>
    <p:sldId id="297" r:id="rId14"/>
    <p:sldId id="261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6F41"/>
    <a:srgbClr val="D84400"/>
    <a:srgbClr val="D6E0EB"/>
    <a:srgbClr val="263E5A"/>
    <a:srgbClr val="C95B3A"/>
    <a:srgbClr val="446992"/>
    <a:srgbClr val="AEC2D8"/>
    <a:srgbClr val="98432A"/>
    <a:srgbClr val="44678D"/>
    <a:srgbClr val="728D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839" autoAdjust="0"/>
  </p:normalViewPr>
  <p:slideViewPr>
    <p:cSldViewPr snapToGrid="0" showGuides="1">
      <p:cViewPr varScale="1">
        <p:scale>
          <a:sx n="62" d="100"/>
          <a:sy n="62" d="100"/>
        </p:scale>
        <p:origin x="96" y="1014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ernv\OneDrive\Documents\Approximations%20of%20Experimental%20Data%20For%20Interview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aseline="0" dirty="0"/>
              <a:t>Synthetic Polymer Material Processing</a:t>
            </a:r>
            <a:endParaRPr lang="en-US" sz="2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Experiment 1</c:v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xVal>
            <c:numRef>
              <c:f>Sheet2!$C$14:$C$48</c:f>
              <c:numCache>
                <c:formatCode>General</c:formatCode>
                <c:ptCount val="35"/>
                <c:pt idx="0">
                  <c:v>1</c:v>
                </c:pt>
                <c:pt idx="1">
                  <c:v>30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  <c:pt idx="5">
                  <c:v>150</c:v>
                </c:pt>
                <c:pt idx="6">
                  <c:v>180</c:v>
                </c:pt>
                <c:pt idx="7">
                  <c:v>210</c:v>
                </c:pt>
                <c:pt idx="8">
                  <c:v>240</c:v>
                </c:pt>
                <c:pt idx="9">
                  <c:v>270</c:v>
                </c:pt>
                <c:pt idx="10">
                  <c:v>300</c:v>
                </c:pt>
                <c:pt idx="11">
                  <c:v>330</c:v>
                </c:pt>
                <c:pt idx="12">
                  <c:v>360</c:v>
                </c:pt>
                <c:pt idx="13">
                  <c:v>390</c:v>
                </c:pt>
                <c:pt idx="14">
                  <c:v>420</c:v>
                </c:pt>
                <c:pt idx="15">
                  <c:v>450</c:v>
                </c:pt>
                <c:pt idx="16">
                  <c:v>480</c:v>
                </c:pt>
                <c:pt idx="17">
                  <c:v>510</c:v>
                </c:pt>
                <c:pt idx="18">
                  <c:v>540</c:v>
                </c:pt>
                <c:pt idx="19">
                  <c:v>570</c:v>
                </c:pt>
                <c:pt idx="20">
                  <c:v>600</c:v>
                </c:pt>
                <c:pt idx="21">
                  <c:v>630</c:v>
                </c:pt>
                <c:pt idx="22">
                  <c:v>660</c:v>
                </c:pt>
                <c:pt idx="23">
                  <c:v>690</c:v>
                </c:pt>
                <c:pt idx="24">
                  <c:v>720</c:v>
                </c:pt>
                <c:pt idx="25">
                  <c:v>750</c:v>
                </c:pt>
                <c:pt idx="26">
                  <c:v>780</c:v>
                </c:pt>
                <c:pt idx="27">
                  <c:v>810</c:v>
                </c:pt>
                <c:pt idx="28">
                  <c:v>840</c:v>
                </c:pt>
                <c:pt idx="29">
                  <c:v>870</c:v>
                </c:pt>
                <c:pt idx="30">
                  <c:v>900</c:v>
                </c:pt>
                <c:pt idx="31">
                  <c:v>930</c:v>
                </c:pt>
                <c:pt idx="32">
                  <c:v>960</c:v>
                </c:pt>
                <c:pt idx="33">
                  <c:v>990</c:v>
                </c:pt>
                <c:pt idx="34">
                  <c:v>1020</c:v>
                </c:pt>
              </c:numCache>
            </c:numRef>
          </c:xVal>
          <c:yVal>
            <c:numRef>
              <c:f>Sheet2!$D$14:$D$48</c:f>
              <c:numCache>
                <c:formatCode>General</c:formatCode>
                <c:ptCount val="35"/>
                <c:pt idx="0">
                  <c:v>21.2</c:v>
                </c:pt>
                <c:pt idx="1">
                  <c:v>23.7</c:v>
                </c:pt>
                <c:pt idx="2">
                  <c:v>28.2</c:v>
                </c:pt>
                <c:pt idx="3">
                  <c:v>31.4</c:v>
                </c:pt>
                <c:pt idx="4">
                  <c:v>34.700000000000003</c:v>
                </c:pt>
                <c:pt idx="5">
                  <c:v>36.4</c:v>
                </c:pt>
                <c:pt idx="6">
                  <c:v>39.5</c:v>
                </c:pt>
                <c:pt idx="7">
                  <c:v>40.6</c:v>
                </c:pt>
                <c:pt idx="8">
                  <c:v>43.4</c:v>
                </c:pt>
                <c:pt idx="9">
                  <c:v>44.1</c:v>
                </c:pt>
                <c:pt idx="10">
                  <c:v>47.6</c:v>
                </c:pt>
                <c:pt idx="11">
                  <c:v>47.8</c:v>
                </c:pt>
                <c:pt idx="12">
                  <c:v>50.7</c:v>
                </c:pt>
                <c:pt idx="13">
                  <c:v>50.3</c:v>
                </c:pt>
                <c:pt idx="14">
                  <c:v>54</c:v>
                </c:pt>
                <c:pt idx="15">
                  <c:v>53.5</c:v>
                </c:pt>
                <c:pt idx="16">
                  <c:v>56</c:v>
                </c:pt>
                <c:pt idx="17">
                  <c:v>56.1</c:v>
                </c:pt>
                <c:pt idx="18">
                  <c:v>58.3</c:v>
                </c:pt>
                <c:pt idx="19">
                  <c:v>57.1</c:v>
                </c:pt>
                <c:pt idx="20">
                  <c:v>59.8</c:v>
                </c:pt>
                <c:pt idx="21">
                  <c:v>58.6</c:v>
                </c:pt>
                <c:pt idx="22">
                  <c:v>60.7</c:v>
                </c:pt>
                <c:pt idx="23">
                  <c:v>59.7</c:v>
                </c:pt>
                <c:pt idx="24">
                  <c:v>62</c:v>
                </c:pt>
                <c:pt idx="25">
                  <c:v>60.5</c:v>
                </c:pt>
                <c:pt idx="26">
                  <c:v>62.9</c:v>
                </c:pt>
                <c:pt idx="27">
                  <c:v>61.8</c:v>
                </c:pt>
                <c:pt idx="28">
                  <c:v>63.7</c:v>
                </c:pt>
                <c:pt idx="29">
                  <c:v>62</c:v>
                </c:pt>
                <c:pt idx="30">
                  <c:v>64.599999999999994</c:v>
                </c:pt>
                <c:pt idx="31">
                  <c:v>62.9</c:v>
                </c:pt>
                <c:pt idx="32">
                  <c:v>65.5</c:v>
                </c:pt>
                <c:pt idx="33">
                  <c:v>62.1</c:v>
                </c:pt>
                <c:pt idx="34">
                  <c:v>64.7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CD8-4DFF-A5BE-77CA3E3A7A1E}"/>
            </c:ext>
          </c:extLst>
        </c:ser>
        <c:ser>
          <c:idx val="1"/>
          <c:order val="1"/>
          <c:tx>
            <c:v>Experiment 2</c:v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xVal>
            <c:numRef>
              <c:f>Sheet2!$C$14:$C$48</c:f>
              <c:numCache>
                <c:formatCode>General</c:formatCode>
                <c:ptCount val="35"/>
                <c:pt idx="0">
                  <c:v>1</c:v>
                </c:pt>
                <c:pt idx="1">
                  <c:v>30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  <c:pt idx="5">
                  <c:v>150</c:v>
                </c:pt>
                <c:pt idx="6">
                  <c:v>180</c:v>
                </c:pt>
                <c:pt idx="7">
                  <c:v>210</c:v>
                </c:pt>
                <c:pt idx="8">
                  <c:v>240</c:v>
                </c:pt>
                <c:pt idx="9">
                  <c:v>270</c:v>
                </c:pt>
                <c:pt idx="10">
                  <c:v>300</c:v>
                </c:pt>
                <c:pt idx="11">
                  <c:v>330</c:v>
                </c:pt>
                <c:pt idx="12">
                  <c:v>360</c:v>
                </c:pt>
                <c:pt idx="13">
                  <c:v>390</c:v>
                </c:pt>
                <c:pt idx="14">
                  <c:v>420</c:v>
                </c:pt>
                <c:pt idx="15">
                  <c:v>450</c:v>
                </c:pt>
                <c:pt idx="16">
                  <c:v>480</c:v>
                </c:pt>
                <c:pt idx="17">
                  <c:v>510</c:v>
                </c:pt>
                <c:pt idx="18">
                  <c:v>540</c:v>
                </c:pt>
                <c:pt idx="19">
                  <c:v>570</c:v>
                </c:pt>
                <c:pt idx="20">
                  <c:v>600</c:v>
                </c:pt>
                <c:pt idx="21">
                  <c:v>630</c:v>
                </c:pt>
                <c:pt idx="22">
                  <c:v>660</c:v>
                </c:pt>
                <c:pt idx="23">
                  <c:v>690</c:v>
                </c:pt>
                <c:pt idx="24">
                  <c:v>720</c:v>
                </c:pt>
                <c:pt idx="25">
                  <c:v>750</c:v>
                </c:pt>
                <c:pt idx="26">
                  <c:v>780</c:v>
                </c:pt>
                <c:pt idx="27">
                  <c:v>810</c:v>
                </c:pt>
                <c:pt idx="28">
                  <c:v>840</c:v>
                </c:pt>
                <c:pt idx="29">
                  <c:v>870</c:v>
                </c:pt>
                <c:pt idx="30">
                  <c:v>900</c:v>
                </c:pt>
                <c:pt idx="31">
                  <c:v>930</c:v>
                </c:pt>
                <c:pt idx="32">
                  <c:v>960</c:v>
                </c:pt>
                <c:pt idx="33">
                  <c:v>990</c:v>
                </c:pt>
                <c:pt idx="34">
                  <c:v>1020</c:v>
                </c:pt>
              </c:numCache>
            </c:numRef>
          </c:xVal>
          <c:yVal>
            <c:numRef>
              <c:f>Sheet2!$E$14:$E$48</c:f>
              <c:numCache>
                <c:formatCode>General</c:formatCode>
                <c:ptCount val="35"/>
                <c:pt idx="0">
                  <c:v>19.8</c:v>
                </c:pt>
                <c:pt idx="1">
                  <c:v>22.4</c:v>
                </c:pt>
                <c:pt idx="2">
                  <c:v>24.8</c:v>
                </c:pt>
                <c:pt idx="3">
                  <c:v>27.2</c:v>
                </c:pt>
                <c:pt idx="4">
                  <c:v>30</c:v>
                </c:pt>
                <c:pt idx="5">
                  <c:v>34</c:v>
                </c:pt>
                <c:pt idx="6">
                  <c:v>35.9</c:v>
                </c:pt>
                <c:pt idx="7">
                  <c:v>37.5</c:v>
                </c:pt>
                <c:pt idx="8">
                  <c:v>41.5</c:v>
                </c:pt>
                <c:pt idx="9">
                  <c:v>36.6</c:v>
                </c:pt>
                <c:pt idx="10">
                  <c:v>36.6</c:v>
                </c:pt>
                <c:pt idx="11">
                  <c:v>45</c:v>
                </c:pt>
                <c:pt idx="12">
                  <c:v>46.9</c:v>
                </c:pt>
                <c:pt idx="13">
                  <c:v>47.2</c:v>
                </c:pt>
                <c:pt idx="14">
                  <c:v>42</c:v>
                </c:pt>
                <c:pt idx="15">
                  <c:v>40.9</c:v>
                </c:pt>
                <c:pt idx="16">
                  <c:v>44.8</c:v>
                </c:pt>
                <c:pt idx="17">
                  <c:v>45.4</c:v>
                </c:pt>
                <c:pt idx="18">
                  <c:v>45.5</c:v>
                </c:pt>
                <c:pt idx="19">
                  <c:v>44.9</c:v>
                </c:pt>
                <c:pt idx="20">
                  <c:v>48.6</c:v>
                </c:pt>
                <c:pt idx="21">
                  <c:v>46.7</c:v>
                </c:pt>
                <c:pt idx="22">
                  <c:v>47.7</c:v>
                </c:pt>
                <c:pt idx="23">
                  <c:v>46.3</c:v>
                </c:pt>
                <c:pt idx="24">
                  <c:v>47.2</c:v>
                </c:pt>
                <c:pt idx="25">
                  <c:v>46</c:v>
                </c:pt>
                <c:pt idx="26">
                  <c:v>48.1</c:v>
                </c:pt>
                <c:pt idx="27">
                  <c:v>55.9</c:v>
                </c:pt>
                <c:pt idx="28">
                  <c:v>60.9</c:v>
                </c:pt>
                <c:pt idx="29">
                  <c:v>53.7</c:v>
                </c:pt>
                <c:pt idx="30">
                  <c:v>60.2</c:v>
                </c:pt>
                <c:pt idx="31">
                  <c:v>54.4</c:v>
                </c:pt>
                <c:pt idx="32">
                  <c:v>71.8</c:v>
                </c:pt>
                <c:pt idx="33">
                  <c:v>59.4</c:v>
                </c:pt>
                <c:pt idx="34">
                  <c:v>70.8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CD8-4DFF-A5BE-77CA3E3A7A1E}"/>
            </c:ext>
          </c:extLst>
        </c:ser>
        <c:ser>
          <c:idx val="3"/>
          <c:order val="2"/>
          <c:tx>
            <c:v>Experiment 3</c:v>
          </c:tx>
          <c:spPr>
            <a:ln w="22225" cap="rnd">
              <a:solidFill>
                <a:schemeClr val="accent4"/>
              </a:solidFill>
            </a:ln>
            <a:effectLst>
              <a:glow rad="139700">
                <a:schemeClr val="accent4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xVal>
            <c:numRef>
              <c:f>Sheet2!$G$13:$G$83</c:f>
              <c:numCache>
                <c:formatCode>General</c:formatCode>
                <c:ptCount val="71"/>
                <c:pt idx="0">
                  <c:v>1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60</c:v>
                </c:pt>
                <c:pt idx="5">
                  <c:v>75</c:v>
                </c:pt>
                <c:pt idx="6">
                  <c:v>90</c:v>
                </c:pt>
                <c:pt idx="7">
                  <c:v>105</c:v>
                </c:pt>
                <c:pt idx="8">
                  <c:v>120</c:v>
                </c:pt>
                <c:pt idx="9">
                  <c:v>135</c:v>
                </c:pt>
                <c:pt idx="10">
                  <c:v>150</c:v>
                </c:pt>
                <c:pt idx="11">
                  <c:v>165</c:v>
                </c:pt>
                <c:pt idx="12">
                  <c:v>180</c:v>
                </c:pt>
                <c:pt idx="13">
                  <c:v>195</c:v>
                </c:pt>
                <c:pt idx="14">
                  <c:v>210</c:v>
                </c:pt>
                <c:pt idx="15">
                  <c:v>225</c:v>
                </c:pt>
                <c:pt idx="16">
                  <c:v>240</c:v>
                </c:pt>
                <c:pt idx="17">
                  <c:v>255</c:v>
                </c:pt>
                <c:pt idx="18">
                  <c:v>270</c:v>
                </c:pt>
                <c:pt idx="19">
                  <c:v>285</c:v>
                </c:pt>
                <c:pt idx="20">
                  <c:v>300</c:v>
                </c:pt>
                <c:pt idx="21">
                  <c:v>315</c:v>
                </c:pt>
                <c:pt idx="22">
                  <c:v>330</c:v>
                </c:pt>
                <c:pt idx="23">
                  <c:v>345</c:v>
                </c:pt>
                <c:pt idx="24">
                  <c:v>360</c:v>
                </c:pt>
                <c:pt idx="25">
                  <c:v>375</c:v>
                </c:pt>
                <c:pt idx="26">
                  <c:v>390</c:v>
                </c:pt>
                <c:pt idx="27">
                  <c:v>405</c:v>
                </c:pt>
                <c:pt idx="28">
                  <c:v>420</c:v>
                </c:pt>
                <c:pt idx="29">
                  <c:v>435</c:v>
                </c:pt>
                <c:pt idx="30">
                  <c:v>450</c:v>
                </c:pt>
                <c:pt idx="31">
                  <c:v>465</c:v>
                </c:pt>
                <c:pt idx="32">
                  <c:v>480</c:v>
                </c:pt>
                <c:pt idx="33">
                  <c:v>495</c:v>
                </c:pt>
                <c:pt idx="34">
                  <c:v>510</c:v>
                </c:pt>
                <c:pt idx="35">
                  <c:v>525</c:v>
                </c:pt>
                <c:pt idx="36">
                  <c:v>540</c:v>
                </c:pt>
                <c:pt idx="37">
                  <c:v>555</c:v>
                </c:pt>
                <c:pt idx="38">
                  <c:v>570</c:v>
                </c:pt>
                <c:pt idx="39">
                  <c:v>585</c:v>
                </c:pt>
                <c:pt idx="40">
                  <c:v>600</c:v>
                </c:pt>
                <c:pt idx="41">
                  <c:v>615</c:v>
                </c:pt>
                <c:pt idx="42">
                  <c:v>630</c:v>
                </c:pt>
                <c:pt idx="43">
                  <c:v>645</c:v>
                </c:pt>
                <c:pt idx="44">
                  <c:v>660</c:v>
                </c:pt>
                <c:pt idx="45">
                  <c:v>675</c:v>
                </c:pt>
                <c:pt idx="46">
                  <c:v>690</c:v>
                </c:pt>
                <c:pt idx="47">
                  <c:v>705</c:v>
                </c:pt>
                <c:pt idx="48">
                  <c:v>720</c:v>
                </c:pt>
                <c:pt idx="49">
                  <c:v>735</c:v>
                </c:pt>
                <c:pt idx="50">
                  <c:v>750</c:v>
                </c:pt>
                <c:pt idx="51">
                  <c:v>765</c:v>
                </c:pt>
                <c:pt idx="52">
                  <c:v>780</c:v>
                </c:pt>
                <c:pt idx="53">
                  <c:v>795</c:v>
                </c:pt>
                <c:pt idx="54">
                  <c:v>810</c:v>
                </c:pt>
                <c:pt idx="55">
                  <c:v>825</c:v>
                </c:pt>
                <c:pt idx="56">
                  <c:v>840</c:v>
                </c:pt>
                <c:pt idx="57">
                  <c:v>855</c:v>
                </c:pt>
                <c:pt idx="58">
                  <c:v>870</c:v>
                </c:pt>
                <c:pt idx="59">
                  <c:v>885</c:v>
                </c:pt>
                <c:pt idx="60">
                  <c:v>900</c:v>
                </c:pt>
                <c:pt idx="61">
                  <c:v>915</c:v>
                </c:pt>
                <c:pt idx="62">
                  <c:v>930</c:v>
                </c:pt>
                <c:pt idx="63">
                  <c:v>945</c:v>
                </c:pt>
                <c:pt idx="64">
                  <c:v>960</c:v>
                </c:pt>
                <c:pt idx="65">
                  <c:v>975</c:v>
                </c:pt>
                <c:pt idx="66">
                  <c:v>990</c:v>
                </c:pt>
                <c:pt idx="67">
                  <c:v>1005</c:v>
                </c:pt>
                <c:pt idx="68">
                  <c:v>1020</c:v>
                </c:pt>
                <c:pt idx="69">
                  <c:v>1035</c:v>
                </c:pt>
                <c:pt idx="70">
                  <c:v>1050</c:v>
                </c:pt>
              </c:numCache>
            </c:numRef>
          </c:xVal>
          <c:yVal>
            <c:numRef>
              <c:f>Sheet2!$I$13:$I$83</c:f>
              <c:numCache>
                <c:formatCode>General</c:formatCode>
                <c:ptCount val="71"/>
                <c:pt idx="0">
                  <c:v>-45.7</c:v>
                </c:pt>
                <c:pt idx="1">
                  <c:v>-44.4</c:v>
                </c:pt>
                <c:pt idx="2">
                  <c:v>-42.5</c:v>
                </c:pt>
                <c:pt idx="3">
                  <c:v>-41</c:v>
                </c:pt>
                <c:pt idx="4">
                  <c:v>-39.5</c:v>
                </c:pt>
                <c:pt idx="5">
                  <c:v>-37.4</c:v>
                </c:pt>
                <c:pt idx="6">
                  <c:v>-36.1</c:v>
                </c:pt>
                <c:pt idx="7">
                  <c:v>-29</c:v>
                </c:pt>
                <c:pt idx="8">
                  <c:v>-39.700000000000003</c:v>
                </c:pt>
                <c:pt idx="9">
                  <c:v>-79.7</c:v>
                </c:pt>
                <c:pt idx="10">
                  <c:v>-108</c:v>
                </c:pt>
                <c:pt idx="11">
                  <c:v>-77.8</c:v>
                </c:pt>
                <c:pt idx="12">
                  <c:v>-93.3</c:v>
                </c:pt>
                <c:pt idx="13">
                  <c:v>-51.5</c:v>
                </c:pt>
                <c:pt idx="14">
                  <c:v>-39.799999999999997</c:v>
                </c:pt>
                <c:pt idx="15">
                  <c:v>-19.3</c:v>
                </c:pt>
                <c:pt idx="16">
                  <c:v>-13.2</c:v>
                </c:pt>
                <c:pt idx="17">
                  <c:v>-7.8</c:v>
                </c:pt>
                <c:pt idx="18">
                  <c:v>-3.7</c:v>
                </c:pt>
                <c:pt idx="19">
                  <c:v>-1.1000000000000001</c:v>
                </c:pt>
                <c:pt idx="20">
                  <c:v>1.5</c:v>
                </c:pt>
                <c:pt idx="21">
                  <c:v>4.2</c:v>
                </c:pt>
                <c:pt idx="22">
                  <c:v>7.5</c:v>
                </c:pt>
                <c:pt idx="23">
                  <c:v>-8.9</c:v>
                </c:pt>
                <c:pt idx="24">
                  <c:v>-40.299999999999997</c:v>
                </c:pt>
                <c:pt idx="25">
                  <c:v>-5.0999999999999996</c:v>
                </c:pt>
                <c:pt idx="26">
                  <c:v>6.7</c:v>
                </c:pt>
                <c:pt idx="27">
                  <c:v>-12.4</c:v>
                </c:pt>
                <c:pt idx="28">
                  <c:v>-34.700000000000003</c:v>
                </c:pt>
                <c:pt idx="29">
                  <c:v>-108.5</c:v>
                </c:pt>
                <c:pt idx="30">
                  <c:v>-95.5</c:v>
                </c:pt>
                <c:pt idx="31">
                  <c:v>-86.2</c:v>
                </c:pt>
                <c:pt idx="32">
                  <c:v>-25.8</c:v>
                </c:pt>
                <c:pt idx="33">
                  <c:v>-91.3</c:v>
                </c:pt>
                <c:pt idx="34">
                  <c:v>-37.5</c:v>
                </c:pt>
                <c:pt idx="35">
                  <c:v>-8.1</c:v>
                </c:pt>
                <c:pt idx="36">
                  <c:v>-22.2</c:v>
                </c:pt>
                <c:pt idx="37">
                  <c:v>-21.1</c:v>
                </c:pt>
                <c:pt idx="38">
                  <c:v>-5.5</c:v>
                </c:pt>
                <c:pt idx="39">
                  <c:v>4.3</c:v>
                </c:pt>
                <c:pt idx="40">
                  <c:v>8.6999999999999993</c:v>
                </c:pt>
                <c:pt idx="41">
                  <c:v>12.1</c:v>
                </c:pt>
                <c:pt idx="42">
                  <c:v>15.7</c:v>
                </c:pt>
                <c:pt idx="43">
                  <c:v>21.2</c:v>
                </c:pt>
                <c:pt idx="44">
                  <c:v>23.9</c:v>
                </c:pt>
                <c:pt idx="45">
                  <c:v>24.8</c:v>
                </c:pt>
                <c:pt idx="46">
                  <c:v>7.4</c:v>
                </c:pt>
                <c:pt idx="47">
                  <c:v>-17.7</c:v>
                </c:pt>
                <c:pt idx="48">
                  <c:v>-35.299999999999997</c:v>
                </c:pt>
                <c:pt idx="49">
                  <c:v>-17.100000000000001</c:v>
                </c:pt>
                <c:pt idx="50">
                  <c:v>1.5</c:v>
                </c:pt>
                <c:pt idx="51">
                  <c:v>15.2</c:v>
                </c:pt>
                <c:pt idx="52">
                  <c:v>20.399999999999999</c:v>
                </c:pt>
                <c:pt idx="53">
                  <c:v>23.6</c:v>
                </c:pt>
                <c:pt idx="54">
                  <c:v>14.5</c:v>
                </c:pt>
                <c:pt idx="55">
                  <c:v>-15.1</c:v>
                </c:pt>
                <c:pt idx="56">
                  <c:v>-8.9</c:v>
                </c:pt>
                <c:pt idx="57">
                  <c:v>-16.8</c:v>
                </c:pt>
                <c:pt idx="58">
                  <c:v>-49.6</c:v>
                </c:pt>
                <c:pt idx="59">
                  <c:v>1.4</c:v>
                </c:pt>
                <c:pt idx="60">
                  <c:v>-44.8</c:v>
                </c:pt>
                <c:pt idx="61">
                  <c:v>-108.3</c:v>
                </c:pt>
                <c:pt idx="62">
                  <c:v>-100.6</c:v>
                </c:pt>
                <c:pt idx="63">
                  <c:v>-67.3</c:v>
                </c:pt>
                <c:pt idx="64">
                  <c:v>-56.5</c:v>
                </c:pt>
                <c:pt idx="65">
                  <c:v>-44.7</c:v>
                </c:pt>
                <c:pt idx="66">
                  <c:v>-39.9</c:v>
                </c:pt>
                <c:pt idx="67">
                  <c:v>-37.299999999999997</c:v>
                </c:pt>
                <c:pt idx="68">
                  <c:v>-35.299999999999997</c:v>
                </c:pt>
                <c:pt idx="69">
                  <c:v>-35.799999999999997</c:v>
                </c:pt>
                <c:pt idx="70">
                  <c:v>-37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CD8-4DFF-A5BE-77CA3E3A7A1E}"/>
            </c:ext>
          </c:extLst>
        </c:ser>
        <c:ser>
          <c:idx val="5"/>
          <c:order val="3"/>
          <c:tx>
            <c:v>Experiment 4</c:v>
          </c:tx>
          <c:spPr>
            <a:ln w="22225" cap="rnd">
              <a:solidFill>
                <a:schemeClr val="accent6"/>
              </a:solidFill>
            </a:ln>
            <a:effectLst>
              <a:glow rad="139700">
                <a:schemeClr val="accent6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xVal>
            <c:numRef>
              <c:f>Sheet2!$K$13:$K$78</c:f>
              <c:numCache>
                <c:formatCode>General</c:formatCode>
                <c:ptCount val="66"/>
                <c:pt idx="0">
                  <c:v>1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60</c:v>
                </c:pt>
                <c:pt idx="5">
                  <c:v>75</c:v>
                </c:pt>
                <c:pt idx="6">
                  <c:v>90</c:v>
                </c:pt>
                <c:pt idx="7">
                  <c:v>105</c:v>
                </c:pt>
                <c:pt idx="8">
                  <c:v>120</c:v>
                </c:pt>
                <c:pt idx="9">
                  <c:v>135</c:v>
                </c:pt>
                <c:pt idx="10">
                  <c:v>150</c:v>
                </c:pt>
                <c:pt idx="11">
                  <c:v>165</c:v>
                </c:pt>
                <c:pt idx="12">
                  <c:v>180</c:v>
                </c:pt>
                <c:pt idx="13">
                  <c:v>195</c:v>
                </c:pt>
                <c:pt idx="14">
                  <c:v>210</c:v>
                </c:pt>
                <c:pt idx="15">
                  <c:v>225</c:v>
                </c:pt>
                <c:pt idx="16">
                  <c:v>240</c:v>
                </c:pt>
                <c:pt idx="17">
                  <c:v>255</c:v>
                </c:pt>
                <c:pt idx="18">
                  <c:v>270</c:v>
                </c:pt>
                <c:pt idx="19">
                  <c:v>285</c:v>
                </c:pt>
                <c:pt idx="20">
                  <c:v>300</c:v>
                </c:pt>
                <c:pt idx="21">
                  <c:v>315</c:v>
                </c:pt>
                <c:pt idx="22">
                  <c:v>330</c:v>
                </c:pt>
                <c:pt idx="23">
                  <c:v>345</c:v>
                </c:pt>
                <c:pt idx="24">
                  <c:v>360</c:v>
                </c:pt>
                <c:pt idx="25">
                  <c:v>375</c:v>
                </c:pt>
                <c:pt idx="26">
                  <c:v>390</c:v>
                </c:pt>
                <c:pt idx="27">
                  <c:v>405</c:v>
                </c:pt>
                <c:pt idx="28">
                  <c:v>420</c:v>
                </c:pt>
                <c:pt idx="29">
                  <c:v>435</c:v>
                </c:pt>
                <c:pt idx="30">
                  <c:v>450</c:v>
                </c:pt>
                <c:pt idx="31">
                  <c:v>465</c:v>
                </c:pt>
                <c:pt idx="32">
                  <c:v>480</c:v>
                </c:pt>
                <c:pt idx="33">
                  <c:v>495</c:v>
                </c:pt>
                <c:pt idx="34">
                  <c:v>510</c:v>
                </c:pt>
                <c:pt idx="35">
                  <c:v>525</c:v>
                </c:pt>
                <c:pt idx="36">
                  <c:v>540</c:v>
                </c:pt>
                <c:pt idx="37">
                  <c:v>555</c:v>
                </c:pt>
                <c:pt idx="38">
                  <c:v>570</c:v>
                </c:pt>
                <c:pt idx="39">
                  <c:v>585</c:v>
                </c:pt>
                <c:pt idx="40">
                  <c:v>600</c:v>
                </c:pt>
                <c:pt idx="41">
                  <c:v>615</c:v>
                </c:pt>
                <c:pt idx="42">
                  <c:v>630</c:v>
                </c:pt>
                <c:pt idx="43">
                  <c:v>645</c:v>
                </c:pt>
                <c:pt idx="44">
                  <c:v>660</c:v>
                </c:pt>
                <c:pt idx="45">
                  <c:v>675</c:v>
                </c:pt>
                <c:pt idx="46">
                  <c:v>690</c:v>
                </c:pt>
                <c:pt idx="47">
                  <c:v>705</c:v>
                </c:pt>
                <c:pt idx="48">
                  <c:v>720</c:v>
                </c:pt>
                <c:pt idx="49">
                  <c:v>735</c:v>
                </c:pt>
                <c:pt idx="50">
                  <c:v>750</c:v>
                </c:pt>
                <c:pt idx="51">
                  <c:v>765</c:v>
                </c:pt>
                <c:pt idx="52">
                  <c:v>780</c:v>
                </c:pt>
                <c:pt idx="53">
                  <c:v>795</c:v>
                </c:pt>
                <c:pt idx="54">
                  <c:v>810</c:v>
                </c:pt>
                <c:pt idx="55">
                  <c:v>825</c:v>
                </c:pt>
                <c:pt idx="56">
                  <c:v>840</c:v>
                </c:pt>
                <c:pt idx="57">
                  <c:v>855</c:v>
                </c:pt>
                <c:pt idx="58">
                  <c:v>870</c:v>
                </c:pt>
                <c:pt idx="59">
                  <c:v>885</c:v>
                </c:pt>
                <c:pt idx="60">
                  <c:v>900</c:v>
                </c:pt>
                <c:pt idx="61">
                  <c:v>915</c:v>
                </c:pt>
                <c:pt idx="62">
                  <c:v>930</c:v>
                </c:pt>
                <c:pt idx="63">
                  <c:v>945</c:v>
                </c:pt>
                <c:pt idx="64">
                  <c:v>960</c:v>
                </c:pt>
                <c:pt idx="65">
                  <c:v>975</c:v>
                </c:pt>
              </c:numCache>
            </c:numRef>
          </c:xVal>
          <c:yVal>
            <c:numRef>
              <c:f>Sheet2!$M$13:$M$78</c:f>
              <c:numCache>
                <c:formatCode>General</c:formatCode>
                <c:ptCount val="66"/>
                <c:pt idx="0">
                  <c:v>-47.3</c:v>
                </c:pt>
                <c:pt idx="1">
                  <c:v>-40</c:v>
                </c:pt>
                <c:pt idx="2">
                  <c:v>-34.9</c:v>
                </c:pt>
                <c:pt idx="3">
                  <c:v>-31.5</c:v>
                </c:pt>
                <c:pt idx="4">
                  <c:v>-28</c:v>
                </c:pt>
                <c:pt idx="5">
                  <c:v>-20</c:v>
                </c:pt>
                <c:pt idx="6">
                  <c:v>-19.100000000000001</c:v>
                </c:pt>
                <c:pt idx="7">
                  <c:v>-16.8</c:v>
                </c:pt>
                <c:pt idx="8">
                  <c:v>-34</c:v>
                </c:pt>
                <c:pt idx="9">
                  <c:v>-25.3</c:v>
                </c:pt>
                <c:pt idx="10">
                  <c:v>-19.600000000000001</c:v>
                </c:pt>
                <c:pt idx="11">
                  <c:v>-19.100000000000001</c:v>
                </c:pt>
                <c:pt idx="12">
                  <c:v>-29.1</c:v>
                </c:pt>
                <c:pt idx="13">
                  <c:v>-26.2</c:v>
                </c:pt>
                <c:pt idx="14">
                  <c:v>-55.2</c:v>
                </c:pt>
                <c:pt idx="15">
                  <c:v>-33.1</c:v>
                </c:pt>
                <c:pt idx="16">
                  <c:v>-34.1</c:v>
                </c:pt>
                <c:pt idx="17">
                  <c:v>-7.7</c:v>
                </c:pt>
                <c:pt idx="18">
                  <c:v>-8.6999999999999993</c:v>
                </c:pt>
                <c:pt idx="19">
                  <c:v>2.8</c:v>
                </c:pt>
                <c:pt idx="20">
                  <c:v>-17.399999999999999</c:v>
                </c:pt>
                <c:pt idx="21">
                  <c:v>-14.4</c:v>
                </c:pt>
                <c:pt idx="22">
                  <c:v>-31.1</c:v>
                </c:pt>
                <c:pt idx="23">
                  <c:v>-42.1</c:v>
                </c:pt>
                <c:pt idx="24">
                  <c:v>-56.8</c:v>
                </c:pt>
                <c:pt idx="25">
                  <c:v>-49.2</c:v>
                </c:pt>
                <c:pt idx="26">
                  <c:v>-70.900000000000006</c:v>
                </c:pt>
                <c:pt idx="27">
                  <c:v>-53.2</c:v>
                </c:pt>
                <c:pt idx="28">
                  <c:v>-68</c:v>
                </c:pt>
                <c:pt idx="29">
                  <c:v>-52.7</c:v>
                </c:pt>
                <c:pt idx="30">
                  <c:v>-76.8</c:v>
                </c:pt>
                <c:pt idx="31">
                  <c:v>-46</c:v>
                </c:pt>
                <c:pt idx="32">
                  <c:v>-43.6</c:v>
                </c:pt>
                <c:pt idx="33">
                  <c:v>-67.5</c:v>
                </c:pt>
                <c:pt idx="34">
                  <c:v>-36.700000000000003</c:v>
                </c:pt>
                <c:pt idx="35">
                  <c:v>-85</c:v>
                </c:pt>
                <c:pt idx="36">
                  <c:v>-40.5</c:v>
                </c:pt>
                <c:pt idx="37">
                  <c:v>-84.5</c:v>
                </c:pt>
                <c:pt idx="38">
                  <c:v>-49.2</c:v>
                </c:pt>
                <c:pt idx="39">
                  <c:v>-81.3</c:v>
                </c:pt>
                <c:pt idx="40">
                  <c:v>-55.1</c:v>
                </c:pt>
                <c:pt idx="41">
                  <c:v>-89</c:v>
                </c:pt>
                <c:pt idx="42">
                  <c:v>-58.4</c:v>
                </c:pt>
                <c:pt idx="43">
                  <c:v>-88.9</c:v>
                </c:pt>
                <c:pt idx="44">
                  <c:v>-62.4</c:v>
                </c:pt>
                <c:pt idx="45">
                  <c:v>-91.1</c:v>
                </c:pt>
                <c:pt idx="46">
                  <c:v>-66.7</c:v>
                </c:pt>
                <c:pt idx="47">
                  <c:v>-88.5</c:v>
                </c:pt>
                <c:pt idx="48">
                  <c:v>-68.599999999999994</c:v>
                </c:pt>
                <c:pt idx="49">
                  <c:v>-94.3</c:v>
                </c:pt>
                <c:pt idx="50">
                  <c:v>-65.5</c:v>
                </c:pt>
                <c:pt idx="51">
                  <c:v>-95.6</c:v>
                </c:pt>
                <c:pt idx="52">
                  <c:v>-63.8</c:v>
                </c:pt>
                <c:pt idx="53">
                  <c:v>-107.6</c:v>
                </c:pt>
                <c:pt idx="54">
                  <c:v>-63.4</c:v>
                </c:pt>
                <c:pt idx="55">
                  <c:v>-104.8</c:v>
                </c:pt>
                <c:pt idx="56">
                  <c:v>-86.5</c:v>
                </c:pt>
                <c:pt idx="57">
                  <c:v>-95</c:v>
                </c:pt>
                <c:pt idx="58">
                  <c:v>-114.7</c:v>
                </c:pt>
                <c:pt idx="59">
                  <c:v>-77.400000000000006</c:v>
                </c:pt>
                <c:pt idx="60">
                  <c:v>-114.5</c:v>
                </c:pt>
                <c:pt idx="61">
                  <c:v>-86.1</c:v>
                </c:pt>
                <c:pt idx="62">
                  <c:v>-140.19999999999999</c:v>
                </c:pt>
                <c:pt idx="63">
                  <c:v>-107.6</c:v>
                </c:pt>
                <c:pt idx="64">
                  <c:v>-125.6</c:v>
                </c:pt>
                <c:pt idx="65">
                  <c:v>-110.8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1CD8-4DFF-A5BE-77CA3E3A7A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6248863"/>
        <c:axId val="406252703"/>
      </c:scatterChart>
      <c:valAx>
        <c:axId val="406248863"/>
        <c:scaling>
          <c:logBase val="10"/>
          <c:orientation val="minMax"/>
          <c:max val="1000"/>
          <c:min val="1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65000"/>
                  <a:lumOff val="35000"/>
                  <a:alpha val="2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Time (Sec)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\ E+00" sourceLinked="0"/>
        <c:majorTickMark val="none"/>
        <c:minorTickMark val="cross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0" spcFirstLastPara="1" vertOverflow="ellipsis" wrap="square" anchor="ctr" anchorCtr="0"/>
          <a:lstStyle/>
          <a:p>
            <a:pPr>
              <a:defRPr sz="1197" b="1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6252703"/>
        <c:crosses val="autoZero"/>
        <c:crossBetween val="midCat"/>
      </c:valAx>
      <c:valAx>
        <c:axId val="406252703"/>
        <c:scaling>
          <c:orientation val="minMax"/>
          <c:max val="100"/>
          <c:min val="-150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10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65000"/>
                  <a:lumOff val="35000"/>
                  <a:alpha val="2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dirty="0"/>
                  <a:t>Temperature</a:t>
                </a:r>
                <a:r>
                  <a:rPr lang="en-US" sz="1400" dirty="0"/>
                  <a:t> (C)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6248863"/>
        <c:crosses val="autoZero"/>
        <c:crossBetween val="midCat"/>
        <c:majorUnit val="3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>
        <a:lumMod val="75000"/>
        <a:lumOff val="25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2400" dirty="0"/>
              <a:t>PSA Material</a:t>
            </a:r>
            <a:r>
              <a:rPr lang="en-US" sz="2400" baseline="0" dirty="0"/>
              <a:t> </a:t>
            </a:r>
            <a:r>
              <a:rPr lang="en-US" sz="2400" dirty="0"/>
              <a:t>Sampling Data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Sheet1!$A$2:$A$4</c:f>
              <c:strCache>
                <c:ptCount val="3"/>
                <c:pt idx="0">
                  <c:v>Sample 1 (710μm Particles)</c:v>
                </c:pt>
                <c:pt idx="1">
                  <c:v>Sample 2 (630μm Particles)</c:v>
                </c:pt>
                <c:pt idx="2">
                  <c:v>Sample 3 (490μm Particles)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718.5</c:v>
                </c:pt>
                <c:pt idx="1">
                  <c:v>672.1</c:v>
                </c:pt>
                <c:pt idx="2">
                  <c:v>544.5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74-4175-AA5D-8093CFA5DA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Sheet1!$A$2:$A$4</c:f>
              <c:strCache>
                <c:ptCount val="3"/>
                <c:pt idx="0">
                  <c:v>Sample 1 (710μm Particles)</c:v>
                </c:pt>
                <c:pt idx="1">
                  <c:v>Sample 2 (630μm Particles)</c:v>
                </c:pt>
                <c:pt idx="2">
                  <c:v>Sample 3 (490μm Particles)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713</c:v>
                </c:pt>
                <c:pt idx="1">
                  <c:v>658.2</c:v>
                </c:pt>
                <c:pt idx="2">
                  <c:v>583.5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74-4175-AA5D-8093CFA5DA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Sheet1!$A$2:$A$4</c:f>
              <c:strCache>
                <c:ptCount val="3"/>
                <c:pt idx="0">
                  <c:v>Sample 1 (710μm Particles)</c:v>
                </c:pt>
                <c:pt idx="1">
                  <c:v>Sample 2 (630μm Particles)</c:v>
                </c:pt>
                <c:pt idx="2">
                  <c:v>Sample 3 (490μm Particles)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761.1</c:v>
                </c:pt>
                <c:pt idx="1">
                  <c:v>676.4</c:v>
                </c:pt>
                <c:pt idx="2">
                  <c:v>564.79999999999995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974-4175-AA5D-8093CFA5DA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352543"/>
        <c:axId val="91341023"/>
      </c:barChart>
      <c:catAx>
        <c:axId val="913525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/>
                  <a:t>Material</a:t>
                </a:r>
                <a:r>
                  <a:rPr lang="en-US" sz="1400" baseline="0" dirty="0"/>
                  <a:t> </a:t>
                </a:r>
                <a:r>
                  <a:rPr lang="en-US" sz="1400" dirty="0"/>
                  <a:t>Sample</a:t>
                </a:r>
              </a:p>
            </c:rich>
          </c:tx>
          <c:layout>
            <c:manualLayout>
              <c:xMode val="edge"/>
              <c:yMode val="edge"/>
              <c:x val="0.45255716144445346"/>
              <c:y val="0.882189405647338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341023"/>
        <c:crosses val="autoZero"/>
        <c:auto val="1"/>
        <c:lblAlgn val="ctr"/>
        <c:lblOffset val="100"/>
        <c:noMultiLvlLbl val="0"/>
      </c:catAx>
      <c:valAx>
        <c:axId val="91341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ln>
                      <a:noFill/>
                    </a:ln>
                    <a:solidFill>
                      <a:srgbClr val="FFFFFF">
                        <a:lumMod val="8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dirty="0">
                    <a:ln>
                      <a:noFill/>
                    </a:ln>
                    <a:solidFill>
                      <a:srgbClr val="FFFFFF">
                        <a:lumMod val="85000"/>
                      </a:srgbClr>
                    </a:solidFill>
                  </a:rPr>
                  <a:t>Particle</a:t>
                </a:r>
                <a:r>
                  <a:rPr lang="en-US" sz="1400" baseline="0" dirty="0">
                    <a:ln>
                      <a:noFill/>
                    </a:ln>
                    <a:solidFill>
                      <a:srgbClr val="FFFFFF">
                        <a:lumMod val="85000"/>
                      </a:srgbClr>
                    </a:solidFill>
                  </a:rPr>
                  <a:t> Size (um)</a:t>
                </a:r>
                <a:endParaRPr lang="en-US" sz="1400" dirty="0">
                  <a:ln>
                    <a:noFill/>
                  </a:ln>
                  <a:solidFill>
                    <a:srgbClr val="FFFFFF">
                      <a:lumMod val="85000"/>
                    </a:srgb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ln>
                    <a:noFill/>
                  </a:ln>
                  <a:solidFill>
                    <a:srgbClr val="FFFFFF">
                      <a:lumMod val="8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352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2018758246707305"/>
          <c:y val="0.93489192558661716"/>
          <c:w val="0.2062627796867437"/>
          <c:h val="4.92775614528255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1">
        <a:lumMod val="75000"/>
        <a:lumOff val="2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1197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12/12/2025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BA5B2-770F-7899-007D-F9D4D5D2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7A8E3B-615E-7908-CAE5-E6FCF10B4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D4303-46A3-AF38-F1FA-2B40F94B7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1442F-44D9-DDA7-8B00-A541356F6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4411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FB298-E109-65C6-EBFC-4DBAA0434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A333A-9DBE-779F-62D6-42B6C68EF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12900-8710-8E12-4D27-0CDDE30D7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C7C1A-D4F6-21F7-B57E-C5F8080D7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68361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FBC01-BDEF-B8C8-BC4C-5418C2F4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AA73E3-B21B-E53E-354E-45D64365C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2F4BBC-CB5A-8BDE-821F-FC31268FF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B97DB-16A5-F229-0A8A-C0358B984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34883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ernando-velez-679118192" TargetMode="External"/><Relationship Id="rId2" Type="http://schemas.openxmlformats.org/officeDocument/2006/relationships/hyperlink" Target="mailto:fernvel36@gmail.com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lnanocorp.com/Cal-Nano-Presentation-March-2023.pdf" TargetMode="External"/><Relationship Id="rId2" Type="http://schemas.openxmlformats.org/officeDocument/2006/relationships/hyperlink" Target="https://www.calnanocorp.com/california-nanotechnologies-advances-commercial-production-with-two-purchase-orders-and-iso-9001-certification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09607" y="4103370"/>
            <a:ext cx="5046958" cy="1520190"/>
          </a:xfrm>
        </p:spPr>
        <p:txBody>
          <a:bodyPr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550" b="1" i="1" dirty="0"/>
              <a:t>Cryogenic Mechanical Systems Development For Polymer-Based Raw Materials Manufacturing</a:t>
            </a:r>
          </a:p>
          <a:p>
            <a:pPr algn="ctr">
              <a:spcBef>
                <a:spcPts val="0"/>
              </a:spcBef>
            </a:pPr>
            <a:endParaRPr lang="en-US" sz="1550" b="1" i="1" dirty="0"/>
          </a:p>
          <a:p>
            <a:pPr algn="ctr">
              <a:spcBef>
                <a:spcPts val="0"/>
              </a:spcBef>
            </a:pPr>
            <a:endParaRPr lang="en-US" sz="1550" b="1" i="1" dirty="0"/>
          </a:p>
          <a:p>
            <a:pPr algn="ctr">
              <a:spcBef>
                <a:spcPts val="0"/>
              </a:spcBef>
            </a:pPr>
            <a:r>
              <a:rPr lang="en-US" sz="1550" b="1" dirty="0"/>
              <a:t>Fernando Velez (</a:t>
            </a:r>
            <a:r>
              <a:rPr lang="en-US" sz="1550" b="1" i="1" dirty="0"/>
              <a:t>R</a:t>
            </a:r>
            <a:r>
              <a:rPr lang="en-US" sz="1550" b="1" dirty="0"/>
              <a:t>&amp;</a:t>
            </a:r>
            <a:r>
              <a:rPr lang="en-US" sz="1550" b="1" i="1" dirty="0"/>
              <a:t>D Mechanical Engineer)</a:t>
            </a:r>
          </a:p>
        </p:txBody>
      </p:sp>
      <p:pic>
        <p:nvPicPr>
          <p:cNvPr id="10" name="Picture Placeholder 9" descr="A colorful object with a black background&#10;&#10;AI-generated content may be incorrect.">
            <a:extLst>
              <a:ext uri="{FF2B5EF4-FFF2-40B4-BE49-F238E27FC236}">
                <a16:creationId xmlns:a16="http://schemas.microsoft.com/office/drawing/2014/main" id="{465EE416-094E-2A63-F407-18C4EA8790E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11350" r="11350"/>
          <a:stretch>
            <a:fillRect/>
          </a:stretch>
        </p:blipFill>
        <p:spPr>
          <a:xfrm>
            <a:off x="6522311" y="1316432"/>
            <a:ext cx="4841148" cy="474346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30" y="731521"/>
            <a:ext cx="5852160" cy="2640330"/>
          </a:xfrm>
        </p:spPr>
        <p:txBody>
          <a:bodyPr lIns="0" anchor="b" anchorCtr="0">
            <a:normAutofit/>
          </a:bodyPr>
          <a:lstStyle/>
          <a:p>
            <a:r>
              <a:rPr lang="en-US" sz="4000" dirty="0"/>
              <a:t>Cryogenic Integration In Modern Materials Manufacturing   </a:t>
            </a:r>
          </a:p>
        </p:txBody>
      </p:sp>
    </p:spTree>
    <p:extLst>
      <p:ext uri="{BB962C8B-B14F-4D97-AF65-F5344CB8AC3E}">
        <p14:creationId xmlns:p14="http://schemas.microsoft.com/office/powerpoint/2010/main" val="1863202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4FDC1-F4CE-36D6-1A27-A94CC6BD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6230C5-B3F1-48BE-965C-352497DC3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9809DD6-CB72-F665-636C-99C888CF6CD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1A5749-D4AC-1FF7-425E-8619A58515D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A07CC3-6E2B-A566-56DD-2EC531AFBD4F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886968" y="1874520"/>
            <a:ext cx="9281160" cy="4745735"/>
          </a:xfrm>
        </p:spPr>
        <p:txBody>
          <a:bodyPr>
            <a:normAutofit/>
          </a:bodyPr>
          <a:lstStyle/>
          <a:p>
            <a:pPr lvl="1"/>
            <a:r>
              <a:rPr lang="en-US" sz="2400" dirty="0"/>
              <a:t>Cryogenic Ball Milling of Metallic Materials</a:t>
            </a:r>
          </a:p>
          <a:p>
            <a:pPr lvl="1"/>
            <a:r>
              <a:rPr lang="en-US" sz="2400" dirty="0"/>
              <a:t>Cryogenic Integration In Polymer Materials</a:t>
            </a:r>
          </a:p>
          <a:p>
            <a:pPr lvl="1"/>
            <a:r>
              <a:rPr lang="en-US" sz="2400" dirty="0"/>
              <a:t>Mechanical Engineering Methodology</a:t>
            </a:r>
          </a:p>
          <a:p>
            <a:pPr lvl="1"/>
            <a:r>
              <a:rPr lang="en-US" sz="2400" dirty="0"/>
              <a:t>Achieving Cryogenic Temperatures</a:t>
            </a:r>
          </a:p>
          <a:p>
            <a:pPr lvl="1"/>
            <a:r>
              <a:rPr lang="en-US" sz="2400" dirty="0"/>
              <a:t>Cryo-Burr Mill Temperature Achievements</a:t>
            </a:r>
          </a:p>
          <a:p>
            <a:pPr lvl="1"/>
            <a:r>
              <a:rPr lang="en-US" sz="2400" dirty="0"/>
              <a:t>Polymer Particle Reduction Analysis</a:t>
            </a:r>
          </a:p>
          <a:p>
            <a:pPr lvl="1"/>
            <a:r>
              <a:rPr lang="en-US" sz="2400" dirty="0"/>
              <a:t>Manufacturing Financial Overview</a:t>
            </a:r>
          </a:p>
          <a:p>
            <a:pPr lvl="1"/>
            <a:r>
              <a:rPr lang="en-US" sz="2400" dirty="0"/>
              <a:t>Future Cryo-Burr Initiatives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362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hexagons&#10;&#10;AI-generated content may be incorrect.">
            <a:extLst>
              <a:ext uri="{FF2B5EF4-FFF2-40B4-BE49-F238E27FC236}">
                <a16:creationId xmlns:a16="http://schemas.microsoft.com/office/drawing/2014/main" id="{9AD9C499-7EF5-1B9E-3480-ECA61627D9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182" r="68268"/>
          <a:stretch>
            <a:fillRect/>
          </a:stretch>
        </p:blipFill>
        <p:spPr>
          <a:xfrm>
            <a:off x="9990577" y="3913632"/>
            <a:ext cx="1860047" cy="2405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FADB63-C745-FD18-61D4-1BFCE94FF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714" y="731521"/>
            <a:ext cx="5878957" cy="1363980"/>
          </a:xfrm>
        </p:spPr>
        <p:txBody>
          <a:bodyPr>
            <a:normAutofit/>
          </a:bodyPr>
          <a:lstStyle/>
          <a:p>
            <a:r>
              <a:rPr lang="en-US" sz="3200" dirty="0"/>
              <a:t>Cryogenic Ball Milling of Metallic Materials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EDE4597-DE25-527D-10FA-33F635F448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8" t="20485" r="75974" b="25864"/>
          <a:stretch>
            <a:fillRect/>
          </a:stretch>
        </p:blipFill>
        <p:spPr>
          <a:xfrm>
            <a:off x="2121904" y="5370154"/>
            <a:ext cx="955921" cy="71870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012F4B8-FF6A-7E11-29D9-83B371A202C9}"/>
              </a:ext>
            </a:extLst>
          </p:cNvPr>
          <p:cNvSpPr txBox="1"/>
          <p:nvPr/>
        </p:nvSpPr>
        <p:spPr>
          <a:xfrm>
            <a:off x="1987297" y="5048804"/>
            <a:ext cx="2767584" cy="2616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1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Metallic Powder Morphology Illustration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9989657-5154-C805-820A-4A3C9ADA3C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83" t="20483" r="51170" b="23967"/>
          <a:stretch>
            <a:fillRect/>
          </a:stretch>
        </p:blipFill>
        <p:spPr>
          <a:xfrm>
            <a:off x="3237552" y="5367789"/>
            <a:ext cx="938864" cy="730846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9464229-A579-F7A3-7045-EA7527E0BD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24" t="20483" r="25940" b="23967"/>
          <a:stretch>
            <a:fillRect/>
          </a:stretch>
        </p:blipFill>
        <p:spPr>
          <a:xfrm>
            <a:off x="4356777" y="5367789"/>
            <a:ext cx="950336" cy="73084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AF80645-6E00-C164-067A-4CA168ABA757}"/>
              </a:ext>
            </a:extLst>
          </p:cNvPr>
          <p:cNvSpPr txBox="1"/>
          <p:nvPr/>
        </p:nvSpPr>
        <p:spPr>
          <a:xfrm>
            <a:off x="1950555" y="6169170"/>
            <a:ext cx="1247755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800" dirty="0">
                <a:solidFill>
                  <a:srgbClr val="FF0000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As received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800" dirty="0">
                <a:solidFill>
                  <a:srgbClr val="FF0000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(Spherical GA powder)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5259CF-1502-8581-E2D9-DA4A34FD7B6D}"/>
              </a:ext>
            </a:extLst>
          </p:cNvPr>
          <p:cNvSpPr txBox="1"/>
          <p:nvPr/>
        </p:nvSpPr>
        <p:spPr>
          <a:xfrm>
            <a:off x="3170878" y="6159646"/>
            <a:ext cx="1095664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800" dirty="0">
                <a:solidFill>
                  <a:srgbClr val="FF0000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Flattening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1CF597-6C1E-D2A1-DA66-54054A24FB23}"/>
              </a:ext>
            </a:extLst>
          </p:cNvPr>
          <p:cNvSpPr txBox="1"/>
          <p:nvPr/>
        </p:nvSpPr>
        <p:spPr>
          <a:xfrm>
            <a:off x="4271351" y="6164409"/>
            <a:ext cx="1095664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800" dirty="0">
                <a:solidFill>
                  <a:srgbClr val="FF0000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High Aspect Ratio Flake</a:t>
            </a:r>
          </a:p>
        </p:txBody>
      </p:sp>
      <p:pic>
        <p:nvPicPr>
          <p:cNvPr id="6" name="Picture 5" descr="A blue background with hexagons&#10;&#10;AI-generated content may be incorrect.">
            <a:extLst>
              <a:ext uri="{FF2B5EF4-FFF2-40B4-BE49-F238E27FC236}">
                <a16:creationId xmlns:a16="http://schemas.microsoft.com/office/drawing/2014/main" id="{C07A05A5-1819-9836-CEB5-66390FCE0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203"/>
          <a:stretch>
            <a:fillRect/>
          </a:stretch>
        </p:blipFill>
        <p:spPr>
          <a:xfrm>
            <a:off x="5924545" y="1216153"/>
            <a:ext cx="5861757" cy="27340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DC41BF-46B8-5CDB-C1DF-C7E30AD1B511}"/>
              </a:ext>
            </a:extLst>
          </p:cNvPr>
          <p:cNvSpPr txBox="1"/>
          <p:nvPr/>
        </p:nvSpPr>
        <p:spPr>
          <a:xfrm>
            <a:off x="6877022" y="1227361"/>
            <a:ext cx="3970959" cy="40011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Cryogenic Material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C138A-3783-6AF5-FFDC-9F9EBC94E8C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85799" y="2266951"/>
            <a:ext cx="5667376" cy="2714624"/>
          </a:xfrm>
        </p:spPr>
        <p:txBody>
          <a:bodyPr>
            <a:normAutofit/>
          </a:bodyPr>
          <a:lstStyle/>
          <a:p>
            <a:r>
              <a:rPr lang="en-US" sz="1750" dirty="0">
                <a:cs typeface="Source Sans Pro Light"/>
              </a:rPr>
              <a:t>Cal Nano advances cryogenic metal milling technologies to industrial grinding for commercial production of polymer-based materials</a:t>
            </a:r>
          </a:p>
          <a:p>
            <a:r>
              <a:rPr lang="en-US" sz="1750" dirty="0">
                <a:cs typeface="Source Sans Pro Light"/>
              </a:rPr>
              <a:t>New R&amp;D engineering efforts in industrial machinery, cryogenic line retrofitting, and particle size reduction methods</a:t>
            </a:r>
          </a:p>
          <a:p>
            <a:r>
              <a:rPr lang="en-US" sz="1750" dirty="0">
                <a:cs typeface="Source Sans Pro Light"/>
              </a:rPr>
              <a:t>New customers, material processing demand, operating procedures, safety standards, and infrastructure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62B8B3F-912C-2FFE-6B43-89B29D359C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513" t="20483" r="816" b="23967"/>
          <a:stretch>
            <a:fillRect/>
          </a:stretch>
        </p:blipFill>
        <p:spPr>
          <a:xfrm>
            <a:off x="5480183" y="5372774"/>
            <a:ext cx="943818" cy="73084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11BE078-5DC2-2820-4ABB-0DA11C67770B}"/>
              </a:ext>
            </a:extLst>
          </p:cNvPr>
          <p:cNvSpPr txBox="1"/>
          <p:nvPr/>
        </p:nvSpPr>
        <p:spPr>
          <a:xfrm>
            <a:off x="5414679" y="6169170"/>
            <a:ext cx="1095664" cy="21544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800" dirty="0">
                <a:solidFill>
                  <a:srgbClr val="FF0000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Agglomeration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EA88-A644-F91B-752E-EF825536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FCF669-91FD-F704-6B2E-1386314CEED2}"/>
              </a:ext>
            </a:extLst>
          </p:cNvPr>
          <p:cNvSpPr txBox="1"/>
          <p:nvPr/>
        </p:nvSpPr>
        <p:spPr>
          <a:xfrm>
            <a:off x="6673539" y="5234396"/>
            <a:ext cx="4564438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2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Cryo-milling: Material embrittlement through low temperature environments. High energy impact reduces the particle sizes of various materials into extremely finer powders</a:t>
            </a:r>
          </a:p>
        </p:txBody>
      </p:sp>
      <p:pic>
        <p:nvPicPr>
          <p:cNvPr id="33" name="Content Placeholder 32" descr="A diagram of a cylinder with a tube and a tube with a tube and a tube with a tube and a tube with a tube and a tube with a tube and a tube with a tube and&#10;&#10;AI-generated content may be incorrect.">
            <a:extLst>
              <a:ext uri="{FF2B5EF4-FFF2-40B4-BE49-F238E27FC236}">
                <a16:creationId xmlns:a16="http://schemas.microsoft.com/office/drawing/2014/main" id="{99925286-79CC-CF9A-6949-C7D6D98184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698321" y="1785705"/>
            <a:ext cx="4547838" cy="343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7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9E3EE-6838-21C7-5E9A-707FBDD48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B8FEA2-A23B-0987-73D2-A8EF346CC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47" y="1170432"/>
            <a:ext cx="5952033" cy="1138815"/>
          </a:xfrm>
        </p:spPr>
        <p:txBody>
          <a:bodyPr>
            <a:normAutofit/>
          </a:bodyPr>
          <a:lstStyle/>
          <a:p>
            <a:r>
              <a:rPr lang="en-US" sz="3200" dirty="0"/>
              <a:t>Cryogenic Integration In Polymer Materials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87611E2A-874D-E0B5-7660-BC61880536BE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2986F6-6ED9-7EBF-1DC6-129753A2B92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4</a:t>
            </a:fld>
            <a:endParaRPr lang="en-US" altLang="zh-CN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C27D66-01DE-714E-D156-9553A1858B35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601206" y="2440090"/>
            <a:ext cx="4802897" cy="3476384"/>
          </a:xfrm>
        </p:spPr>
        <p:txBody>
          <a:bodyPr>
            <a:normAutofit/>
          </a:bodyPr>
          <a:lstStyle/>
          <a:p>
            <a:r>
              <a:rPr lang="en-US" sz="1750" dirty="0"/>
              <a:t>Strategic R&amp;D investments in polymer-based raw-materials manufacturing prototypes</a:t>
            </a:r>
          </a:p>
          <a:p>
            <a:r>
              <a:rPr lang="en-US" sz="1750" dirty="0"/>
              <a:t>Gaseous nitrogen replaces cryo-liquids for industrial grinding of polymer materials</a:t>
            </a:r>
          </a:p>
          <a:p>
            <a:r>
              <a:rPr lang="en-US" sz="1750" dirty="0"/>
              <a:t>Polymer-based materials operate at distinct glass transition temperatures</a:t>
            </a:r>
          </a:p>
          <a:p>
            <a:r>
              <a:rPr lang="en-US" sz="1750" dirty="0"/>
              <a:t>Prototype technology requires new engineering design and experimental testing</a:t>
            </a:r>
          </a:p>
          <a:p>
            <a:r>
              <a:rPr lang="en-US" sz="1750" dirty="0"/>
              <a:t>Mechanical systems offers greater control in polymer particle size reductions</a:t>
            </a:r>
          </a:p>
          <a:p>
            <a:endParaRPr lang="en-US" sz="1600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A1AB135A-9E93-A9F1-5737-587026B8CDA9}"/>
              </a:ext>
            </a:extLst>
          </p:cNvPr>
          <p:cNvSpPr/>
          <p:nvPr/>
        </p:nvSpPr>
        <p:spPr>
          <a:xfrm>
            <a:off x="7009420" y="2392617"/>
            <a:ext cx="2363180" cy="2202244"/>
          </a:xfrm>
          <a:prstGeom prst="flowChartConnector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6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86E0BF-8872-2A30-D35C-F6B46420343C}"/>
              </a:ext>
            </a:extLst>
          </p:cNvPr>
          <p:cNvSpPr txBox="1"/>
          <p:nvPr/>
        </p:nvSpPr>
        <p:spPr>
          <a:xfrm>
            <a:off x="9131008" y="2245721"/>
            <a:ext cx="19949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Ambient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3E0937-B62F-28DB-83B0-1A1B6F758AAA}"/>
                  </a:ext>
                </a:extLst>
              </p:cNvPr>
              <p:cNvSpPr txBox="1"/>
              <p:nvPr/>
            </p:nvSpPr>
            <p:spPr>
              <a:xfrm>
                <a:off x="9662806" y="2573646"/>
                <a:ext cx="972317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16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16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𝒎𝒃𝒊𝒆𝒏𝒕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𝑨𝒎𝒃𝒊𝒆𝒏𝒕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3E0937-B62F-28DB-83B0-1A1B6F758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806" y="2573646"/>
                <a:ext cx="972317" cy="492443"/>
              </a:xfrm>
              <a:prstGeom prst="rect">
                <a:avLst/>
              </a:prstGeom>
              <a:blipFill>
                <a:blip r:embed="rId3"/>
                <a:stretch>
                  <a:fillRect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4AC154-FA25-44BB-50F8-5097BDBB91D9}"/>
                  </a:ext>
                </a:extLst>
              </p:cNvPr>
              <p:cNvSpPr txBox="1"/>
              <p:nvPr/>
            </p:nvSpPr>
            <p:spPr>
              <a:xfrm>
                <a:off x="5614814" y="3302473"/>
                <a:ext cx="1047466" cy="53912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16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𝑵𝒊𝒕𝒓𝒐𝒈𝒆𝒏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𝑵𝒊𝒕𝒓𝒐𝒈𝒆𝒏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4AC154-FA25-44BB-50F8-5097BDBB9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4814" y="3302473"/>
                <a:ext cx="1047466" cy="539122"/>
              </a:xfrm>
              <a:prstGeom prst="rect">
                <a:avLst/>
              </a:prstGeom>
              <a:blipFill>
                <a:blip r:embed="rId4"/>
                <a:stretch>
                  <a:fillRect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F76023-E1EB-9992-87A8-E659A21DF487}"/>
                  </a:ext>
                </a:extLst>
              </p:cNvPr>
              <p:cNvSpPr txBox="1"/>
              <p:nvPr/>
            </p:nvSpPr>
            <p:spPr>
              <a:xfrm>
                <a:off x="6691123" y="1585384"/>
                <a:ext cx="3172946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acc>
                      </m:e>
                      <m:sub>
                        <m: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𝑴𝒂𝒕𝒆𝒓𝒊𝒂𝒍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𝑴𝒂𝒕𝒆𝒓𝒊𝒂𝒍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𝑨𝒕𝒎</m:t>
                        </m:r>
                        <m:r>
                          <a:rPr lang="en-US" sz="16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𝒐𝒓</m:t>
                        </m:r>
                        <m:r>
                          <a:rPr lang="en-US" sz="16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𝑭𝒐𝒓𝒄𝒆𝒅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F76023-E1EB-9992-87A8-E659A21DF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1123" y="1585384"/>
                <a:ext cx="3172946" cy="246221"/>
              </a:xfrm>
              <a:prstGeom prst="rect">
                <a:avLst/>
              </a:prstGeom>
              <a:blipFill>
                <a:blip r:embed="rId5"/>
                <a:stretch>
                  <a:fillRect l="-1731" t="-25000" b="-5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DA793FD-35E9-6B65-05D7-0754CBD33C1D}"/>
              </a:ext>
            </a:extLst>
          </p:cNvPr>
          <p:cNvSpPr txBox="1"/>
          <p:nvPr/>
        </p:nvSpPr>
        <p:spPr>
          <a:xfrm>
            <a:off x="5453297" y="2947383"/>
            <a:ext cx="1448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Nitrogen Inlet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8FEEF-3AED-B33C-670D-52F2BADB6A27}"/>
              </a:ext>
            </a:extLst>
          </p:cNvPr>
          <p:cNvSpPr txBox="1"/>
          <p:nvPr/>
        </p:nvSpPr>
        <p:spPr>
          <a:xfrm>
            <a:off x="6274999" y="1181957"/>
            <a:ext cx="39639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Experimental Material Inflow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20295D-4630-B3F6-3F3A-BAB0908A1830}"/>
              </a:ext>
            </a:extLst>
          </p:cNvPr>
          <p:cNvSpPr txBox="1"/>
          <p:nvPr/>
        </p:nvSpPr>
        <p:spPr>
          <a:xfrm>
            <a:off x="8794612" y="4574291"/>
            <a:ext cx="56958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C.S.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633E0B-8861-5CEA-ADAA-0436E44D4302}"/>
              </a:ext>
            </a:extLst>
          </p:cNvPr>
          <p:cNvSpPr txBox="1"/>
          <p:nvPr/>
        </p:nvSpPr>
        <p:spPr>
          <a:xfrm>
            <a:off x="7191375" y="3106041"/>
            <a:ext cx="1988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Control System</a:t>
            </a:r>
            <a:endParaRPr lang="en-US" sz="105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6B5986-741E-8124-1F8F-BAD3C7EB926F}"/>
                  </a:ext>
                </a:extLst>
              </p:cNvPr>
              <p:cNvSpPr txBox="1"/>
              <p:nvPr/>
            </p:nvSpPr>
            <p:spPr>
              <a:xfrm>
                <a:off x="6580779" y="5631669"/>
                <a:ext cx="3137813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sz="1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acc>
                      </m:e>
                      <m:sub>
                        <m: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𝑴𝒂𝒕𝒆𝒓𝒊𝒂𝒍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𝑴𝒂𝒕𝒆𝒓𝒊𝒂𝒍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𝑨𝒕𝒎</m:t>
                        </m:r>
                        <m: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𝒐𝒓</m:t>
                        </m:r>
                        <m: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𝑭𝒐𝒓𝒄𝒆𝒅</m:t>
                        </m:r>
                      </m:sub>
                    </m:sSub>
                  </m:oMath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6B5986-741E-8124-1F8F-BAD3C7EB9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779" y="5631669"/>
                <a:ext cx="3137813" cy="246221"/>
              </a:xfrm>
              <a:prstGeom prst="rect">
                <a:avLst/>
              </a:prstGeom>
              <a:blipFill>
                <a:blip r:embed="rId6"/>
                <a:stretch>
                  <a:fillRect l="-1751" t="-275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9C9D4D43-36C6-34A4-4FBC-E4E2285A1548}"/>
              </a:ext>
            </a:extLst>
          </p:cNvPr>
          <p:cNvSpPr txBox="1"/>
          <p:nvPr/>
        </p:nvSpPr>
        <p:spPr>
          <a:xfrm>
            <a:off x="6778813" y="5218466"/>
            <a:ext cx="2727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Cryogenic Material Outflow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34F5E4-232C-4A45-3108-DDAC019818B0}"/>
              </a:ext>
            </a:extLst>
          </p:cNvPr>
          <p:cNvSpPr txBox="1"/>
          <p:nvPr/>
        </p:nvSpPr>
        <p:spPr>
          <a:xfrm>
            <a:off x="9562384" y="3857466"/>
            <a:ext cx="2088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Energy System Input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7447DF-7434-ABF6-05A6-15465409F156}"/>
              </a:ext>
            </a:extLst>
          </p:cNvPr>
          <p:cNvCxnSpPr>
            <a:cxnSpLocks/>
          </p:cNvCxnSpPr>
          <p:nvPr/>
        </p:nvCxnSpPr>
        <p:spPr>
          <a:xfrm flipH="1">
            <a:off x="6987540" y="4236720"/>
            <a:ext cx="556260" cy="41148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A809C2-EEE7-C107-BAF1-235DE743CDFE}"/>
              </a:ext>
            </a:extLst>
          </p:cNvPr>
          <p:cNvSpPr txBox="1"/>
          <p:nvPr/>
        </p:nvSpPr>
        <p:spPr>
          <a:xfrm>
            <a:off x="5652300" y="4231934"/>
            <a:ext cx="14762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Heat Transfer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20D0BCC-4A0A-F426-0042-4DAB1308799F}"/>
                  </a:ext>
                </a:extLst>
              </p:cNvPr>
              <p:cNvSpPr txBox="1"/>
              <p:nvPr/>
            </p:nvSpPr>
            <p:spPr>
              <a:xfrm>
                <a:off x="5999121" y="4570488"/>
                <a:ext cx="739433" cy="2555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acc>
                        </m:e>
                        <m:sub>
                          <m:r>
                            <a:rPr lang="en-US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20D0BCC-4A0A-F426-0042-4DAB13087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121" y="4570488"/>
                <a:ext cx="739433" cy="255583"/>
              </a:xfrm>
              <a:prstGeom prst="rect">
                <a:avLst/>
              </a:prstGeom>
              <a:blipFill>
                <a:blip r:embed="rId7"/>
                <a:stretch>
                  <a:fillRect t="-14286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7E1F57-AD94-7635-D100-999006EEA083}"/>
                  </a:ext>
                </a:extLst>
              </p:cNvPr>
              <p:cNvSpPr txBox="1"/>
              <p:nvPr/>
            </p:nvSpPr>
            <p:spPr>
              <a:xfrm>
                <a:off x="10212376" y="4179685"/>
                <a:ext cx="72096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1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𝒐𝒕𝒂𝒍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7E1F57-AD94-7635-D100-999006EEA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2376" y="4179685"/>
                <a:ext cx="720967" cy="246221"/>
              </a:xfrm>
              <a:prstGeom prst="rect">
                <a:avLst/>
              </a:prstGeom>
              <a:blipFill>
                <a:blip r:embed="rId8"/>
                <a:stretch>
                  <a:fillRect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7F48760-1527-95F2-922F-23AC8EFAA2C9}"/>
              </a:ext>
            </a:extLst>
          </p:cNvPr>
          <p:cNvCxnSpPr>
            <a:cxnSpLocks/>
            <a:stCxn id="4" idx="4"/>
          </p:cNvCxnSpPr>
          <p:nvPr/>
        </p:nvCxnSpPr>
        <p:spPr>
          <a:xfrm>
            <a:off x="8191010" y="4594861"/>
            <a:ext cx="0" cy="495299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D3E5194-A908-EF15-E5B0-39E454BD69AB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6619875" y="3493739"/>
            <a:ext cx="389545" cy="0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A6D2495-B20C-2792-5FF0-05DCC7A8DD1A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8191010" y="1996440"/>
            <a:ext cx="0" cy="396177"/>
          </a:xfrm>
          <a:prstGeom prst="straightConnector1">
            <a:avLst/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DD48BF8-9544-93D1-5FC9-E3B835517E29}"/>
              </a:ext>
            </a:extLst>
          </p:cNvPr>
          <p:cNvCxnSpPr>
            <a:cxnSpLocks/>
            <a:endCxn id="4" idx="6"/>
          </p:cNvCxnSpPr>
          <p:nvPr/>
        </p:nvCxnSpPr>
        <p:spPr>
          <a:xfrm rot="10800000">
            <a:off x="9372600" y="3493740"/>
            <a:ext cx="1200260" cy="293247"/>
          </a:xfrm>
          <a:prstGeom prst="bentConnector3">
            <a:avLst>
              <a:gd name="adj1" fmla="val -2694"/>
            </a:avLst>
          </a:prstGeom>
          <a:ln w="762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57DE8DF-5CE1-FCB1-03BE-F43395E4E2B1}"/>
              </a:ext>
            </a:extLst>
          </p:cNvPr>
          <p:cNvSpPr txBox="1"/>
          <p:nvPr/>
        </p:nvSpPr>
        <p:spPr>
          <a:xfrm>
            <a:off x="7437437" y="3682896"/>
            <a:ext cx="1525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Heat Generation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9626424-6949-5F25-D964-181D9A82AEEB}"/>
                  </a:ext>
                </a:extLst>
              </p:cNvPr>
              <p:cNvSpPr txBox="1"/>
              <p:nvPr/>
            </p:nvSpPr>
            <p:spPr>
              <a:xfrm>
                <a:off x="7873889" y="3971180"/>
                <a:ext cx="635341" cy="2236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</m:acc>
                        </m:e>
                        <m:sub>
                          <m:r>
                            <a:rPr lang="en-US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𝑮𝒆𝒏</m:t>
                          </m:r>
                        </m:sub>
                      </m:sSub>
                    </m:oMath>
                  </m:oMathPara>
                </a14:m>
                <a:endParaRPr lang="en-US" sz="1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9626424-6949-5F25-D964-181D9A82A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889" y="3971180"/>
                <a:ext cx="635341" cy="223651"/>
              </a:xfrm>
              <a:prstGeom prst="rect">
                <a:avLst/>
              </a:prstGeom>
              <a:blipFill>
                <a:blip r:embed="rId9"/>
                <a:stretch>
                  <a:fillRect t="-5405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951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F8AF6-1530-A361-5BDF-AEE0F206F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266AE-26FE-27B4-2B11-A068E175E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27" y="548640"/>
            <a:ext cx="8578981" cy="658368"/>
          </a:xfrm>
          <a:noFill/>
        </p:spPr>
        <p:txBody>
          <a:bodyPr anchor="b" anchorCtr="0">
            <a:noAutofit/>
          </a:bodyPr>
          <a:lstStyle/>
          <a:p>
            <a:r>
              <a:rPr lang="en-US" dirty="0"/>
              <a:t>Mechanical Engineering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77D63B-D88E-D3AC-7899-FAFC5418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490D9F-F35E-B837-0EFE-27ACDE0CBB87}"/>
              </a:ext>
            </a:extLst>
          </p:cNvPr>
          <p:cNvSpPr txBox="1"/>
          <p:nvPr/>
        </p:nvSpPr>
        <p:spPr>
          <a:xfrm>
            <a:off x="7184978" y="2110147"/>
            <a:ext cx="3732958" cy="1172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sz="1100" b="1" dirty="0">
                <a:solidFill>
                  <a:schemeClr val="bg1"/>
                </a:solidFill>
              </a:rPr>
              <a:t>Considerations:</a:t>
            </a:r>
          </a:p>
          <a:p>
            <a:pPr marL="285750" indent="-285750"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Optimal Material Temperatures/Pressures</a:t>
            </a:r>
          </a:p>
          <a:p>
            <a:pPr marL="285750" indent="-285750"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Applicable Nitrogen Phase-States</a:t>
            </a:r>
          </a:p>
          <a:p>
            <a:pPr marL="285750" indent="-285750"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Ideal/Non-Ideal Conditions in System</a:t>
            </a:r>
          </a:p>
          <a:p>
            <a:pPr marL="285750" indent="-285750"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Control Volume Analysis of Combined Properties</a:t>
            </a:r>
          </a:p>
          <a:p>
            <a:pPr marL="285750" indent="-285750"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Gaseous Nitrogen Mass Flow Rates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BE98B-15BD-10AF-87EC-A61FA901278F}"/>
              </a:ext>
            </a:extLst>
          </p:cNvPr>
          <p:cNvSpPr txBox="1"/>
          <p:nvPr/>
        </p:nvSpPr>
        <p:spPr>
          <a:xfrm>
            <a:off x="2690837" y="2090274"/>
            <a:ext cx="2247731" cy="12362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"/>
              </a:spcBef>
              <a:spcAft>
                <a:spcPts val="120"/>
              </a:spcAft>
            </a:pPr>
            <a:r>
              <a:rPr lang="en-US" sz="1100" b="1" dirty="0">
                <a:solidFill>
                  <a:schemeClr val="bg1"/>
                </a:solidFill>
              </a:rPr>
              <a:t>Considerations: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Hybrid Machine Performance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Natural/Forced Flow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Maximum Feed Rates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Heat Development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Material Heat Mitigation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83CEDC-8729-0413-23CD-9D9A61CFCA72}"/>
              </a:ext>
            </a:extLst>
          </p:cNvPr>
          <p:cNvSpPr txBox="1"/>
          <p:nvPr/>
        </p:nvSpPr>
        <p:spPr>
          <a:xfrm>
            <a:off x="8050032" y="3480294"/>
            <a:ext cx="25297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>
                <a:solidFill>
                  <a:schemeClr val="bg1"/>
                </a:solidFill>
              </a:rPr>
              <a:t>Nitrogen Material Testing</a:t>
            </a:r>
          </a:p>
          <a:p>
            <a:pPr algn="ctr"/>
            <a:endParaRPr lang="en-US" sz="6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Prototyping &amp; Experimentation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Harsh Environmental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Nitrogen Material Reactivity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27E882-2AE0-480A-8712-018067D9243C}"/>
              </a:ext>
            </a:extLst>
          </p:cNvPr>
          <p:cNvCxnSpPr>
            <a:cxnSpLocks/>
          </p:cNvCxnSpPr>
          <p:nvPr/>
        </p:nvCxnSpPr>
        <p:spPr>
          <a:xfrm>
            <a:off x="9314898" y="3233547"/>
            <a:ext cx="0" cy="2924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0B1AF60-B840-27F6-98B2-69A94443C580}"/>
              </a:ext>
            </a:extLst>
          </p:cNvPr>
          <p:cNvSpPr txBox="1"/>
          <p:nvPr/>
        </p:nvSpPr>
        <p:spPr>
          <a:xfrm>
            <a:off x="2023752" y="5212208"/>
            <a:ext cx="2882765" cy="1041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"/>
              </a:spcBef>
              <a:spcAft>
                <a:spcPts val="120"/>
              </a:spcAft>
            </a:pPr>
            <a:r>
              <a:rPr lang="en-US" sz="1100" b="1" dirty="0">
                <a:solidFill>
                  <a:schemeClr val="bg1"/>
                </a:solidFill>
              </a:rPr>
              <a:t>Considerations: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Analysis of Experimental Data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Particle Size Sample Testing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Cryogenic Sampling &amp; Quality Testing</a:t>
            </a:r>
          </a:p>
          <a:p>
            <a:pPr marL="285750" indent="-285750">
              <a:spcBef>
                <a:spcPts val="120"/>
              </a:spcBef>
              <a:spcAft>
                <a:spcPts val="120"/>
              </a:spcAft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Material Glass Transition Temperatures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D7988-B21E-271E-99C2-4965FB7BB5BD}"/>
              </a:ext>
            </a:extLst>
          </p:cNvPr>
          <p:cNvSpPr txBox="1"/>
          <p:nvPr/>
        </p:nvSpPr>
        <p:spPr>
          <a:xfrm>
            <a:off x="2003963" y="3583884"/>
            <a:ext cx="382990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>
                <a:solidFill>
                  <a:schemeClr val="bg1"/>
                </a:solidFill>
              </a:rPr>
              <a:t>Experimental Data Collection</a:t>
            </a:r>
          </a:p>
          <a:p>
            <a:pPr algn="ctr"/>
            <a:endParaRPr lang="en-US" sz="600" b="1" u="sng" dirty="0">
              <a:solidFill>
                <a:schemeClr val="bg1"/>
              </a:solidFill>
            </a:endParaRPr>
          </a:p>
          <a:p>
            <a:pPr algn="ctr"/>
            <a:endParaRPr lang="en-US" sz="100" b="1" u="sng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Thermocouples, Pressure Sensors, Flow Meters,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Data Acquisition in Harsh 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FD48AA-16F0-E586-D080-E2EF2618C331}"/>
              </a:ext>
            </a:extLst>
          </p:cNvPr>
          <p:cNvCxnSpPr>
            <a:cxnSpLocks/>
          </p:cNvCxnSpPr>
          <p:nvPr/>
        </p:nvCxnSpPr>
        <p:spPr>
          <a:xfrm>
            <a:off x="3756603" y="3298724"/>
            <a:ext cx="0" cy="2760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19B570-D6E3-0737-FCB9-7E6310CEED01}"/>
              </a:ext>
            </a:extLst>
          </p:cNvPr>
          <p:cNvCxnSpPr>
            <a:cxnSpLocks/>
          </p:cNvCxnSpPr>
          <p:nvPr/>
        </p:nvCxnSpPr>
        <p:spPr>
          <a:xfrm>
            <a:off x="4906517" y="5853409"/>
            <a:ext cx="37503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FDCA4E-39C8-9198-EAEC-92B5B4C4E9C6}"/>
              </a:ext>
            </a:extLst>
          </p:cNvPr>
          <p:cNvSpPr txBox="1"/>
          <p:nvPr/>
        </p:nvSpPr>
        <p:spPr>
          <a:xfrm>
            <a:off x="866306" y="1505499"/>
            <a:ext cx="41856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Step 1: Material Reactivity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3D72F6-7277-F787-76E1-0BD16AE8A136}"/>
              </a:ext>
            </a:extLst>
          </p:cNvPr>
          <p:cNvSpPr txBox="1"/>
          <p:nvPr/>
        </p:nvSpPr>
        <p:spPr>
          <a:xfrm>
            <a:off x="6330544" y="1524283"/>
            <a:ext cx="45424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Step 2: Nitrogen Retrofitting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0F72B2-B8C9-855F-1017-07C0663363D4}"/>
              </a:ext>
            </a:extLst>
          </p:cNvPr>
          <p:cNvSpPr txBox="1"/>
          <p:nvPr/>
        </p:nvSpPr>
        <p:spPr>
          <a:xfrm>
            <a:off x="1837342" y="4645144"/>
            <a:ext cx="6741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Step 3 Cryogenic Material Processing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D6EE1A-2D52-15F5-C116-CF3C88FF437E}"/>
              </a:ext>
            </a:extLst>
          </p:cNvPr>
          <p:cNvSpPr txBox="1"/>
          <p:nvPr/>
        </p:nvSpPr>
        <p:spPr>
          <a:xfrm>
            <a:off x="5138928" y="5722604"/>
            <a:ext cx="1499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Desired Material?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4579B6A-28A5-FE74-2DC5-702D3B036040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5888736" y="5448300"/>
            <a:ext cx="0" cy="2743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99E6144-E8B5-7CF3-A5CB-279A6F72CA2F}"/>
              </a:ext>
            </a:extLst>
          </p:cNvPr>
          <p:cNvSpPr txBox="1"/>
          <p:nvPr/>
        </p:nvSpPr>
        <p:spPr>
          <a:xfrm>
            <a:off x="5657849" y="5163372"/>
            <a:ext cx="467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No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F0EB8C-6484-5557-FFFF-EC1449F1C064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888736" y="5984214"/>
            <a:ext cx="0" cy="2784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AE04C06-4380-F915-765B-09042877D53B}"/>
              </a:ext>
            </a:extLst>
          </p:cNvPr>
          <p:cNvSpPr txBox="1"/>
          <p:nvPr/>
        </p:nvSpPr>
        <p:spPr>
          <a:xfrm>
            <a:off x="5614988" y="6285732"/>
            <a:ext cx="5544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Yes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02B7BFB-2664-A359-4D3E-B3FCE936916C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398787" y="2708392"/>
            <a:ext cx="2920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10B9E75-3FAC-4559-68BB-BAA3CAA6A201}"/>
              </a:ext>
            </a:extLst>
          </p:cNvPr>
          <p:cNvSpPr txBox="1"/>
          <p:nvPr/>
        </p:nvSpPr>
        <p:spPr>
          <a:xfrm>
            <a:off x="850392" y="2316035"/>
            <a:ext cx="1659979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>
                <a:solidFill>
                  <a:schemeClr val="bg1"/>
                </a:solidFill>
              </a:rPr>
              <a:t>Computational Analysis</a:t>
            </a:r>
          </a:p>
          <a:p>
            <a:pPr algn="ctr"/>
            <a:endParaRPr lang="en-US" sz="600" b="1" u="sng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CAD, FEA, CFD,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Accurate?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C690166-C6AD-4994-366A-5F03317AD0C5}"/>
              </a:ext>
            </a:extLst>
          </p:cNvPr>
          <p:cNvCxnSpPr>
            <a:cxnSpLocks/>
            <a:stCxn id="20" idx="3"/>
            <a:endCxn id="26" idx="1"/>
          </p:cNvCxnSpPr>
          <p:nvPr/>
        </p:nvCxnSpPr>
        <p:spPr>
          <a:xfrm>
            <a:off x="6125224" y="5294177"/>
            <a:ext cx="7450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2AD6AC8-E13A-CDCF-C2A0-A3DD8F1A8665}"/>
              </a:ext>
            </a:extLst>
          </p:cNvPr>
          <p:cNvSpPr txBox="1"/>
          <p:nvPr/>
        </p:nvSpPr>
        <p:spPr>
          <a:xfrm>
            <a:off x="6870270" y="4947928"/>
            <a:ext cx="410354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" b="1" u="sng" dirty="0">
              <a:solidFill>
                <a:schemeClr val="bg1"/>
              </a:solidFill>
            </a:endParaRPr>
          </a:p>
          <a:p>
            <a:pPr algn="ctr"/>
            <a:r>
              <a:rPr lang="en-US" sz="1100" b="1" u="sng" dirty="0">
                <a:solidFill>
                  <a:schemeClr val="bg1"/>
                </a:solidFill>
              </a:rPr>
              <a:t>Iterative Optimization</a:t>
            </a:r>
          </a:p>
          <a:p>
            <a:pPr algn="ctr"/>
            <a:endParaRPr lang="en-US" sz="500" b="1" u="sng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Subcomponent Redesign, Nitrogen Phase-State Adjustments, Thermodynamic Calculations, Etc.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81B516C-954D-4431-6801-21537EEEE168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6169466" y="6411926"/>
            <a:ext cx="700804" cy="46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CB57691-C4B5-FE84-C852-F8392C3976F0}"/>
              </a:ext>
            </a:extLst>
          </p:cNvPr>
          <p:cNvSpPr txBox="1"/>
          <p:nvPr/>
        </p:nvSpPr>
        <p:spPr>
          <a:xfrm>
            <a:off x="6870270" y="5973473"/>
            <a:ext cx="412996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u="sng" dirty="0">
                <a:solidFill>
                  <a:schemeClr val="bg1"/>
                </a:solidFill>
              </a:rPr>
              <a:t>Industrialize Process</a:t>
            </a:r>
          </a:p>
          <a:p>
            <a:pPr algn="ctr"/>
            <a:endParaRPr lang="en-US" sz="500" b="1" u="sng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1"/>
                </a:solidFill>
              </a:rPr>
              <a:t>Source Applicable Equipment, Develop Supply Chains, Scale Production,  Standardize Procedures, Etc.</a:t>
            </a:r>
          </a:p>
        </p:txBody>
      </p:sp>
    </p:spTree>
    <p:extLst>
      <p:ext uri="{BB962C8B-B14F-4D97-AF65-F5344CB8AC3E}">
        <p14:creationId xmlns:p14="http://schemas.microsoft.com/office/powerpoint/2010/main" val="399177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0B576B-ACF1-1193-D62A-E6F1A591B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50D08-E2D5-27E5-5881-DF27EFC38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538426"/>
            <a:ext cx="9720072" cy="715645"/>
          </a:xfrm>
          <a:noFill/>
        </p:spPr>
        <p:txBody>
          <a:bodyPr anchor="b" anchorCtr="0">
            <a:noAutofit/>
          </a:bodyPr>
          <a:lstStyle/>
          <a:p>
            <a:r>
              <a:rPr lang="en-US" dirty="0"/>
              <a:t>Cryo-Burr Mill Temperature Achievements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6BC145-AE5A-D927-4F2C-8D31FDB24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26A0834-D171-2991-8FE8-D9BBB6A2E8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7205635"/>
              </p:ext>
            </p:extLst>
          </p:nvPr>
        </p:nvGraphicFramePr>
        <p:xfrm>
          <a:off x="1177142" y="1561408"/>
          <a:ext cx="9813486" cy="4730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12293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34EB819-82D8-3305-65D3-CA3B47D4D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4A92-A7EE-A35A-40AF-1D5996CBF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569423"/>
            <a:ext cx="8613648" cy="715645"/>
          </a:xfrm>
          <a:noFill/>
        </p:spPr>
        <p:txBody>
          <a:bodyPr anchor="b" anchorCtr="0">
            <a:noAutofit/>
          </a:bodyPr>
          <a:lstStyle/>
          <a:p>
            <a:r>
              <a:rPr lang="en-US" dirty="0"/>
              <a:t>Polymer Particle Reduction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98FF3A-CB54-07FA-D084-80E8966A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711EBA5-FFA3-13E0-B5C4-79BA9D01DB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6317179"/>
              </p:ext>
            </p:extLst>
          </p:nvPr>
        </p:nvGraphicFramePr>
        <p:xfrm>
          <a:off x="1200480" y="1515793"/>
          <a:ext cx="9803155" cy="4813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92107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A515D-5AE7-079B-E1F4-1D6622F27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1D6810D-D525-DA34-67EA-4F68ACAC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970653"/>
            <a:ext cx="10210460" cy="966636"/>
          </a:xfrm>
        </p:spPr>
        <p:txBody>
          <a:bodyPr>
            <a:normAutofit/>
          </a:bodyPr>
          <a:lstStyle/>
          <a:p>
            <a:r>
              <a:rPr lang="en-US" dirty="0"/>
              <a:t>Manufacturing Financial Overview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54F285C2-E298-36C3-CCA6-C68674B50D7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DF3C28-66C1-E386-4535-C1EF6C34589A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B60A28-9D0E-17E4-1A9D-87EAB26F4CA5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05257" y="1642504"/>
            <a:ext cx="9810784" cy="24995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Cryogenic mechanical hybrid systems resulted in large-scale production success at lower costs and personnel</a:t>
            </a:r>
          </a:p>
          <a:p>
            <a:r>
              <a:rPr lang="en-US" dirty="0"/>
              <a:t>Cryogenic material processing technology allowed for further particle reductions in polymer-based materials and an increase in material production</a:t>
            </a:r>
          </a:p>
          <a:p>
            <a:r>
              <a:rPr lang="en-US" dirty="0"/>
              <a:t>New customer orders from </a:t>
            </a:r>
            <a:r>
              <a:rPr lang="en-US" dirty="0" err="1"/>
              <a:t>AbTech</a:t>
            </a:r>
            <a:r>
              <a:rPr lang="en-US" dirty="0"/>
              <a:t> Industries Inc. resulted in company technology investments, rapid market entry, and greater product demand</a:t>
            </a: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B34E627B-40EE-7334-5A86-789892E06207}"/>
              </a:ext>
            </a:extLst>
          </p:cNvPr>
          <p:cNvSpPr txBox="1"/>
          <p:nvPr/>
        </p:nvSpPr>
        <p:spPr>
          <a:xfrm>
            <a:off x="4414965" y="-543680"/>
            <a:ext cx="2712155" cy="282129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bg1"/>
                </a:solidFill>
                <a:cs typeface="Source Sans Pro Light"/>
              </a:rPr>
              <a:t>Thermodynamic Diagram</a:t>
            </a:r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6756A211-56C1-8875-01D2-0899E4DCF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028508"/>
              </p:ext>
            </p:extLst>
          </p:nvPr>
        </p:nvGraphicFramePr>
        <p:xfrm>
          <a:off x="1312594" y="4659236"/>
          <a:ext cx="8599503" cy="13817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40820">
                  <a:extLst>
                    <a:ext uri="{9D8B030D-6E8A-4147-A177-3AD203B41FA5}">
                      <a16:colId xmlns:a16="http://schemas.microsoft.com/office/drawing/2014/main" val="2583978422"/>
                    </a:ext>
                  </a:extLst>
                </a:gridCol>
                <a:gridCol w="2491812">
                  <a:extLst>
                    <a:ext uri="{9D8B030D-6E8A-4147-A177-3AD203B41FA5}">
                      <a16:colId xmlns:a16="http://schemas.microsoft.com/office/drawing/2014/main" val="3223427488"/>
                    </a:ext>
                  </a:extLst>
                </a:gridCol>
                <a:gridCol w="2355182">
                  <a:extLst>
                    <a:ext uri="{9D8B030D-6E8A-4147-A177-3AD203B41FA5}">
                      <a16:colId xmlns:a16="http://schemas.microsoft.com/office/drawing/2014/main" val="1032192210"/>
                    </a:ext>
                  </a:extLst>
                </a:gridCol>
                <a:gridCol w="2511689">
                  <a:extLst>
                    <a:ext uri="{9D8B030D-6E8A-4147-A177-3AD203B41FA5}">
                      <a16:colId xmlns:a16="http://schemas.microsoft.com/office/drawing/2014/main" val="3958838339"/>
                    </a:ext>
                  </a:extLst>
                </a:gridCol>
              </a:tblGrid>
              <a:tr h="503060"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/>
                        <a:t>Quarter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/>
                        <a:t>Particle Reduction (</a:t>
                      </a:r>
                      <a:r>
                        <a:rPr lang="el-GR" cap="none" baseline="0" dirty="0"/>
                        <a:t>μ</a:t>
                      </a:r>
                      <a:r>
                        <a:rPr lang="en-US" cap="none" baseline="0" dirty="0"/>
                        <a:t>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/>
                        <a:t>Production Growth (lb./day)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/>
                        <a:t>Customer Demand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8141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~710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1,000 lb. / month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498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~490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~410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4,000 lb. / bi-weekly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5044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719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832" y="749808"/>
            <a:ext cx="7132320" cy="1773936"/>
          </a:xfrm>
        </p:spPr>
        <p:txBody>
          <a:bodyPr/>
          <a:lstStyle/>
          <a:p>
            <a:r>
              <a:rPr lang="en-US" dirty="0"/>
              <a:t>Future Cryo-Burr Initiatives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152" y="3026664"/>
            <a:ext cx="3291840" cy="26517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 robustness of cryogenic hybrid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Integrate further safety standards &amp;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new opportunities and industry sectors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8466807-A2DA-EC5D-ACDE-B83D6F7169EA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82312" y="3026664"/>
            <a:ext cx="3054096" cy="265176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Scale infrastructure &amp; material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 growth trends through new materials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7024" y="731520"/>
            <a:ext cx="5120640" cy="2516386"/>
          </a:xfrm>
        </p:spPr>
        <p:txBody>
          <a:bodyPr lIns="0" anchor="b" anchorCtr="0"/>
          <a:lstStyle/>
          <a:p>
            <a:r>
              <a:rPr lang="en-US" dirty="0"/>
              <a:t>Fernando Velez</a:t>
            </a:r>
            <a:endParaRPr lang="en-US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23944"/>
            <a:ext cx="5193792" cy="221284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1400" b="1" dirty="0">
                <a:latin typeface="Abadi (Body)"/>
                <a:ea typeface="Cambria" panose="02040503050406030204" pitchFamily="18" charset="0"/>
                <a:cs typeface="Times New Roman" panose="02020603050405020304" pitchFamily="18" charset="0"/>
              </a:rPr>
              <a:t>Location: Los Angeles, CA 90063</a:t>
            </a:r>
          </a:p>
          <a:p>
            <a:pPr>
              <a:spcBef>
                <a:spcPts val="0"/>
              </a:spcBef>
            </a:pPr>
            <a:endParaRPr lang="en-US" sz="1400" dirty="0">
              <a:latin typeface="Abadi (Body)"/>
              <a:ea typeface="Aptos" panose="020B0004020202020204" pitchFamily="34" charset="0"/>
              <a:cs typeface="MS Mincho" panose="02020609040205080304" pitchFamily="49" charset="-128"/>
            </a:endParaRPr>
          </a:p>
          <a:p>
            <a:pPr>
              <a:spcBef>
                <a:spcPts val="0"/>
              </a:spcBef>
            </a:pPr>
            <a:r>
              <a:rPr lang="en-US" sz="1400" b="1" dirty="0">
                <a:latin typeface="Abadi (Body)"/>
                <a:ea typeface="Cambria" panose="02040503050406030204" pitchFamily="18" charset="0"/>
                <a:cs typeface="Times New Roman" panose="02020603050405020304" pitchFamily="18" charset="0"/>
              </a:rPr>
              <a:t>Phone: +1 (323) 852-2014</a:t>
            </a:r>
          </a:p>
          <a:p>
            <a:pPr>
              <a:spcBef>
                <a:spcPts val="0"/>
              </a:spcBef>
            </a:pPr>
            <a:endParaRPr lang="en-US" sz="1400" b="1" dirty="0">
              <a:latin typeface="Abadi (Body)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400" b="1" dirty="0">
                <a:latin typeface="Abadi (Body)"/>
                <a:ea typeface="Cambria" panose="02040503050406030204" pitchFamily="18" charset="0"/>
                <a:cs typeface="Times New Roman" panose="02020603050405020304" pitchFamily="18" charset="0"/>
              </a:rPr>
              <a:t>Email: </a:t>
            </a:r>
            <a:r>
              <a:rPr lang="en-US" sz="1400" b="1" u="sng" dirty="0">
                <a:latin typeface="Abadi (Body)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fernvel36@gmail.com</a:t>
            </a:r>
            <a:endParaRPr lang="en-US" sz="1400" b="1" u="sng" dirty="0">
              <a:latin typeface="Abadi (Body)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1400" b="1" dirty="0">
              <a:latin typeface="Abadi (Body)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400" b="1" dirty="0">
                <a:latin typeface="Abadi (Body)"/>
                <a:ea typeface="Cambria" panose="02040503050406030204" pitchFamily="18" charset="0"/>
                <a:cs typeface="Times New Roman" panose="02020603050405020304" pitchFamily="18" charset="0"/>
              </a:rPr>
              <a:t>LinkedIn: </a:t>
            </a:r>
            <a:r>
              <a:rPr lang="en-US" sz="1400" b="1" dirty="0">
                <a:latin typeface="Abadi (Body)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https://www.linkedin.com/in/fernando-velez-679118192</a:t>
            </a:r>
            <a:r>
              <a:rPr lang="en-US" sz="1400" b="1" dirty="0">
                <a:latin typeface="Abadi (Body)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endParaRPr lang="en-US" sz="2400" b="1" i="1" dirty="0">
              <a:latin typeface="Abadi (Body)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CB235-8513-0266-9B60-1F3672C332AB}"/>
              </a:ext>
            </a:extLst>
          </p:cNvPr>
          <p:cNvSpPr txBox="1"/>
          <p:nvPr/>
        </p:nvSpPr>
        <p:spPr>
          <a:xfrm>
            <a:off x="5840730" y="3429000"/>
            <a:ext cx="3010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>
                <a:solidFill>
                  <a:schemeClr val="bg1"/>
                </a:solidFill>
              </a:rPr>
              <a:t>R&amp;D Mechanical Engineer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61A378-0A38-EB8A-B2E5-DD9803F99D1B}"/>
              </a:ext>
            </a:extLst>
          </p:cNvPr>
          <p:cNvSpPr txBox="1"/>
          <p:nvPr/>
        </p:nvSpPr>
        <p:spPr>
          <a:xfrm>
            <a:off x="11234928" y="6268402"/>
            <a:ext cx="3886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69E57DC2-970A-4B3E-BB1C-7A09969E49DF}" type="slidenum">
              <a:rPr lang="en-US" sz="1200" smtClean="0">
                <a:solidFill>
                  <a:schemeClr val="bg1"/>
                </a:solidFill>
              </a:rPr>
              <a:pPr/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3000375" cy="1256157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8075" y="2657474"/>
            <a:ext cx="7599045" cy="3212973"/>
          </a:xfrm>
          <a:noFill/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1200" i="1" dirty="0"/>
              <a:t>California Nanotechnologies Advances Commercial Production with Two Purchase Orders and ISO 9001 Certification. (Apr 21, 2025)</a:t>
            </a:r>
            <a:r>
              <a:rPr lang="en-US" sz="1200" dirty="0"/>
              <a:t>. </a:t>
            </a:r>
            <a:r>
              <a:rPr lang="en-US" sz="1200" dirty="0">
                <a:hlinkClick r:id="rId2"/>
              </a:rPr>
              <a:t>https://www.calnanocorp.com/california-nanotechnologies-advances-commercial-production-with-two-purchase-orders-and-iso-9001-certification</a:t>
            </a:r>
            <a:endParaRPr lang="en-US" sz="1200" dirty="0"/>
          </a:p>
          <a:p>
            <a:pPr marL="0" indent="0">
              <a:spcBef>
                <a:spcPts val="0"/>
              </a:spcBef>
              <a:buNone/>
            </a:pPr>
            <a:endParaRPr lang="en-US" sz="1200" dirty="0"/>
          </a:p>
          <a:p>
            <a:pPr>
              <a:spcBef>
                <a:spcPts val="0"/>
              </a:spcBef>
            </a:pPr>
            <a:r>
              <a:rPr lang="en-US" sz="1200" i="1" dirty="0"/>
              <a:t>California Nanotechnologies Presentation. (2023, March). </a:t>
            </a:r>
            <a:r>
              <a:rPr lang="en-US" sz="1200" dirty="0">
                <a:hlinkClick r:id="rId3"/>
              </a:rPr>
              <a:t>https://www.calnanocorp.com/Cal-Nano-Presentation-March-2023.pdf</a:t>
            </a:r>
            <a:endParaRPr lang="en-US" sz="1200" dirty="0"/>
          </a:p>
          <a:p>
            <a:pPr algn="just">
              <a:spcBef>
                <a:spcPts val="0"/>
              </a:spcBef>
            </a:pPr>
            <a:endParaRPr lang="en-US" sz="1200" dirty="0"/>
          </a:p>
          <a:p>
            <a:pPr algn="just">
              <a:spcBef>
                <a:spcPts val="0"/>
              </a:spcBef>
            </a:pPr>
            <a:endParaRPr lang="en-US" sz="1200" dirty="0"/>
          </a:p>
          <a:p>
            <a:pPr algn="just">
              <a:spcBef>
                <a:spcPts val="0"/>
              </a:spcBef>
            </a:pPr>
            <a:endParaRPr lang="en-US" sz="120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3" id="{B2A09113-D80A-4CEB-84AD-5F3C210546F5}" vid="{897E41CC-BF75-40EB-9A1D-4A51B13B2C3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8BF015-C9F0-46BD-A47D-086FC5BD5D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</TotalTime>
  <Words>678</Words>
  <Application>Microsoft Office PowerPoint</Application>
  <PresentationFormat>Widescreen</PresentationFormat>
  <Paragraphs>160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等线</vt:lpstr>
      <vt:lpstr>Abadi</vt:lpstr>
      <vt:lpstr>Abadi (Body)</vt:lpstr>
      <vt:lpstr>Arial</vt:lpstr>
      <vt:lpstr>Calibri</vt:lpstr>
      <vt:lpstr>Cambria Math</vt:lpstr>
      <vt:lpstr>Posterama</vt:lpstr>
      <vt:lpstr>Posterama Text SemiBold</vt:lpstr>
      <vt:lpstr>Source Sans Pro Light</vt:lpstr>
      <vt:lpstr>Custom</vt:lpstr>
      <vt:lpstr>Cryogenic Integration In Modern Materials Manufacturing   </vt:lpstr>
      <vt:lpstr>Table of Contents</vt:lpstr>
      <vt:lpstr>Cryogenic Ball Milling of Metallic Materials </vt:lpstr>
      <vt:lpstr>Cryogenic Integration In Polymer Materials</vt:lpstr>
      <vt:lpstr>Mechanical Engineering Methodology</vt:lpstr>
      <vt:lpstr>Cryo-Burr Mill Temperature Achievements</vt:lpstr>
      <vt:lpstr>Polymer Particle Reduction Analysis</vt:lpstr>
      <vt:lpstr>Manufacturing Financial Overview</vt:lpstr>
      <vt:lpstr>Future Cryo-Burr Initiatives</vt:lpstr>
      <vt:lpstr>Fernando Velez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Velez</dc:creator>
  <cp:lastModifiedBy>Velez, Fernando</cp:lastModifiedBy>
  <cp:revision>87</cp:revision>
  <dcterms:created xsi:type="dcterms:W3CDTF">2025-06-11T21:03:44Z</dcterms:created>
  <dcterms:modified xsi:type="dcterms:W3CDTF">2025-12-13T05:28:15Z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